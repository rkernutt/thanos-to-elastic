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customer already runs Elastic for logs and APM. This is about bringing metrics home, unlocking correlation, and paying for one platform instead of two. Everything on these slides is verified in the repo (FINDINGS.md).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Current state: Prometheus scrapes, Thanos provides HA + long-term retention in S3. Grafana queries two backends. The 12 months of history is the anchor keeping Thanos alive.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matters: live shipping starts first so the retention clock starts and history butts up against it. Backfill reads TSDB blocks directly from object storage — no load on Thanos. Each month is verified with an automated parity gate (same PromQL to both systems) before the next is loaded.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state: single platform, single bill, single query surface. The S3 bucket stays for 6-12 months as a near-zero-cost rollback artifact, then gets deleted. Year-over-year PromQL works across the migrated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come from the migration kit's test evidence: PromQL parity harness (identical queries against real Prometheus and migrated Elastic data), full idempotency replays, and a calibrated throughput benchmark. Next step 1 is zero-risk: a read-only inventory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C3F"/>
        </a:solidFill>
      </p:bgPr>
    </p:bg>
    <p:spTree>
      <p:nvGrpSpPr>
        <p:cNvPr id="1" name=""/>
        <p:cNvGrpSpPr/>
        <p:nvPr/>
      </p:nvGrpSpPr>
      <p:grpSpPr>
        <a:xfrm>
          <a:off x="0" y="0"/>
          <a:ext cx="0" cy="0"/>
          <a:chOff x="0" y="0"/>
          <a:chExt cx="0" cy="0"/>
        </a:xfrm>
      </p:grpSpPr>
      <p:sp>
        <p:nvSpPr>
          <p:cNvPr id="2" name="Shape 0"/>
          <p:cNvSpPr/>
          <p:nvPr/>
        </p:nvSpPr>
        <p:spPr>
          <a:xfrm>
            <a:off x="8595360" y="1005840"/>
            <a:ext cx="2377440" cy="548640"/>
          </a:xfrm>
          <a:prstGeom prst="roundRect">
            <a:avLst>
              <a:gd name="adj" fmla="val 11667"/>
            </a:avLst>
          </a:prstGeom>
          <a:solidFill>
            <a:srgbClr val="153385">
              <a:alpha val="55000"/>
            </a:srgbClr>
          </a:solidFill>
          <a:ln w="9525">
            <a:solidFill>
              <a:srgbClr val="0B64DD">
                <a:alpha val="70000"/>
              </a:srgbClr>
            </a:solidFill>
            <a:prstDash val="solid"/>
          </a:ln>
        </p:spPr>
      </p:sp>
      <p:sp>
        <p:nvSpPr>
          <p:cNvPr id="3" name="Shape 1"/>
          <p:cNvSpPr/>
          <p:nvPr/>
        </p:nvSpPr>
        <p:spPr>
          <a:xfrm>
            <a:off x="9326880" y="1920240"/>
            <a:ext cx="2194560" cy="548640"/>
          </a:xfrm>
          <a:prstGeom prst="roundRect">
            <a:avLst>
              <a:gd name="adj" fmla="val 11667"/>
            </a:avLst>
          </a:prstGeom>
          <a:solidFill>
            <a:srgbClr val="153385">
              <a:alpha val="55000"/>
            </a:srgbClr>
          </a:solidFill>
          <a:ln w="9525">
            <a:solidFill>
              <a:srgbClr val="0B64DD">
                <a:alpha val="70000"/>
              </a:srgbClr>
            </a:solidFill>
            <a:prstDash val="solid"/>
          </a:ln>
        </p:spPr>
      </p:sp>
      <p:sp>
        <p:nvSpPr>
          <p:cNvPr id="4" name="Shape 2"/>
          <p:cNvSpPr/>
          <p:nvPr/>
        </p:nvSpPr>
        <p:spPr>
          <a:xfrm>
            <a:off x="8229600" y="2834640"/>
            <a:ext cx="2011680" cy="548640"/>
          </a:xfrm>
          <a:prstGeom prst="roundRect">
            <a:avLst>
              <a:gd name="adj" fmla="val 11667"/>
            </a:avLst>
          </a:prstGeom>
          <a:solidFill>
            <a:srgbClr val="153385">
              <a:alpha val="55000"/>
            </a:srgbClr>
          </a:solidFill>
          <a:ln w="9525">
            <a:solidFill>
              <a:srgbClr val="0B64DD">
                <a:alpha val="70000"/>
              </a:srgbClr>
            </a:solidFill>
            <a:prstDash val="solid"/>
          </a:ln>
        </p:spPr>
      </p:sp>
      <p:sp>
        <p:nvSpPr>
          <p:cNvPr id="5" name="Shape 3"/>
          <p:cNvSpPr/>
          <p:nvPr/>
        </p:nvSpPr>
        <p:spPr>
          <a:xfrm>
            <a:off x="9601200" y="3749040"/>
            <a:ext cx="2103120" cy="548640"/>
          </a:xfrm>
          <a:prstGeom prst="roundRect">
            <a:avLst>
              <a:gd name="adj" fmla="val 11667"/>
            </a:avLst>
          </a:prstGeom>
          <a:solidFill>
            <a:srgbClr val="153385">
              <a:alpha val="55000"/>
            </a:srgbClr>
          </a:solidFill>
          <a:ln w="9525">
            <a:solidFill>
              <a:srgbClr val="0B64DD">
                <a:alpha val="70000"/>
              </a:srgbClr>
            </a:solidFill>
            <a:prstDash val="solid"/>
          </a:ln>
        </p:spPr>
      </p:sp>
      <p:sp>
        <p:nvSpPr>
          <p:cNvPr id="6" name="Shape 4"/>
          <p:cNvSpPr/>
          <p:nvPr/>
        </p:nvSpPr>
        <p:spPr>
          <a:xfrm>
            <a:off x="8503920" y="4663440"/>
            <a:ext cx="2377440" cy="548640"/>
          </a:xfrm>
          <a:prstGeom prst="roundRect">
            <a:avLst>
              <a:gd name="adj" fmla="val 11667"/>
            </a:avLst>
          </a:prstGeom>
          <a:solidFill>
            <a:srgbClr val="153385">
              <a:alpha val="55000"/>
            </a:srgbClr>
          </a:solidFill>
          <a:ln w="9525">
            <a:solidFill>
              <a:srgbClr val="0B64DD">
                <a:alpha val="70000"/>
              </a:srgbClr>
            </a:solidFill>
            <a:prstDash val="solid"/>
          </a:ln>
        </p:spPr>
      </p:sp>
      <p:sp>
        <p:nvSpPr>
          <p:cNvPr id="7" name="Shape 5"/>
          <p:cNvSpPr/>
          <p:nvPr/>
        </p:nvSpPr>
        <p:spPr>
          <a:xfrm>
            <a:off x="9235440" y="5577840"/>
            <a:ext cx="2011680" cy="548640"/>
          </a:xfrm>
          <a:prstGeom prst="roundRect">
            <a:avLst>
              <a:gd name="adj" fmla="val 11667"/>
            </a:avLst>
          </a:prstGeom>
          <a:solidFill>
            <a:srgbClr val="153385">
              <a:alpha val="55000"/>
            </a:srgbClr>
          </a:solidFill>
          <a:ln w="9525">
            <a:solidFill>
              <a:srgbClr val="0B64DD">
                <a:alpha val="70000"/>
              </a:srgbClr>
            </a:solidFill>
            <a:prstDash val="solid"/>
          </a:ln>
        </p:spPr>
      </p:sp>
      <p:sp>
        <p:nvSpPr>
          <p:cNvPr id="8" name="Text 6"/>
          <p:cNvSpPr txBox="1"/>
          <p:nvPr/>
        </p:nvSpPr>
        <p:spPr>
          <a:xfrm>
            <a:off x="640080" y="1554480"/>
            <a:ext cx="6858000" cy="365760"/>
          </a:xfrm>
          <a:prstGeom prst="rect">
            <a:avLst/>
          </a:prstGeom>
          <a:noFill/>
          <a:ln/>
        </p:spPr>
        <p:txBody>
          <a:bodyPr wrap="square" lIns="0" tIns="0" rIns="0" bIns="0" rtlCol="0" anchor="ctr"/>
          <a:lstStyle/>
          <a:p>
            <a:pPr indent="0" marL="0">
              <a:buNone/>
            </a:pPr>
            <a:r>
              <a:rPr lang="en-US" sz="1500" b="1" spc="200" kern="0" dirty="0">
                <a:solidFill>
                  <a:srgbClr val="48EFCF"/>
                </a:solidFill>
                <a:latin typeface="Arial" pitchFamily="34" charset="0"/>
                <a:ea typeface="Arial" pitchFamily="34" charset="-122"/>
                <a:cs typeface="Arial" pitchFamily="34" charset="-120"/>
              </a:rPr>
              <a:t>Elastic Observability</a:t>
            </a:r>
            <a:endParaRPr lang="en-US" sz="1500" dirty="0"/>
          </a:p>
        </p:txBody>
      </p:sp>
      <p:sp>
        <p:nvSpPr>
          <p:cNvPr id="9" name="Text 7"/>
          <p:cNvSpPr txBox="1"/>
          <p:nvPr/>
        </p:nvSpPr>
        <p:spPr>
          <a:xfrm>
            <a:off x="640080" y="1965960"/>
            <a:ext cx="7498080" cy="173736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One home for metrics, logs, and traces</a:t>
            </a:r>
            <a:endParaRPr lang="en-US" sz="4400" dirty="0"/>
          </a:p>
        </p:txBody>
      </p:sp>
      <p:sp>
        <p:nvSpPr>
          <p:cNvPr id="10" name="Text 8"/>
          <p:cNvSpPr txBox="1"/>
          <p:nvPr/>
        </p:nvSpPr>
        <p:spPr>
          <a:xfrm>
            <a:off x="640080" y="3794760"/>
            <a:ext cx="6949440" cy="868680"/>
          </a:xfrm>
          <a:prstGeom prst="rect">
            <a:avLst/>
          </a:prstGeom>
          <a:noFill/>
          <a:ln/>
        </p:spPr>
        <p:txBody>
          <a:bodyPr wrap="square" lIns="0" tIns="0" rIns="0" bIns="0" rtlCol="0" anchor="ctr"/>
          <a:lstStyle/>
          <a:p>
            <a:pPr indent="0" marL="0">
              <a:buNone/>
            </a:pPr>
            <a:r>
              <a:rPr lang="en-US" sz="1800" dirty="0">
                <a:solidFill>
                  <a:srgbClr val="DCE2EA"/>
                </a:solidFill>
                <a:latin typeface="Arial" pitchFamily="34" charset="0"/>
                <a:ea typeface="Arial" pitchFamily="34" charset="-122"/>
                <a:cs typeface="Arial" pitchFamily="34" charset="-120"/>
              </a:rPr>
              <a:t>Migrating 12 months of Prometheus history out of Thanos — and retiring the infrastructure that held it</a:t>
            </a:r>
            <a:endParaRPr lang="en-US" sz="1800" dirty="0"/>
          </a:p>
        </p:txBody>
      </p:sp>
      <p:sp>
        <p:nvSpPr>
          <p:cNvPr id="11" name="Text 9"/>
          <p:cNvSpPr txBox="1"/>
          <p:nvPr/>
        </p:nvSpPr>
        <p:spPr>
          <a:xfrm>
            <a:off x="640080" y="5029200"/>
            <a:ext cx="5486400" cy="365760"/>
          </a:xfrm>
          <a:prstGeom prst="rect">
            <a:avLst/>
          </a:prstGeom>
          <a:noFill/>
          <a:ln/>
        </p:spPr>
        <p:txBody>
          <a:bodyPr wrap="square" lIns="0" tIns="0" rIns="0" bIns="0" rtlCol="0" anchor="ctr"/>
          <a:lstStyle/>
          <a:p>
            <a:pPr indent="0" marL="0">
              <a:buNone/>
            </a:pPr>
            <a:r>
              <a:rPr lang="en-US" sz="1500" b="1" dirty="0">
                <a:solidFill>
                  <a:srgbClr val="FEC514"/>
                </a:solidFill>
                <a:latin typeface="Arial" pitchFamily="34" charset="0"/>
                <a:ea typeface="Arial" pitchFamily="34" charset="-122"/>
                <a:cs typeface="Arial" pitchFamily="34" charset="-120"/>
              </a:rPr>
              <a:t>Before  ·  During  ·  After</a:t>
            </a:r>
            <a:endParaRPr lang="en-US" sz="1500" dirty="0"/>
          </a:p>
        </p:txBody>
      </p:sp>
      <p:sp>
        <p:nvSpPr>
          <p:cNvPr id="12" name="Text 10"/>
          <p:cNvSpPr txBox="1"/>
          <p:nvPr/>
        </p:nvSpPr>
        <p:spPr>
          <a:xfrm>
            <a:off x="640080" y="6172200"/>
            <a:ext cx="5486400" cy="320040"/>
          </a:xfrm>
          <a:prstGeom prst="rect">
            <a:avLst/>
          </a:prstGeom>
          <a:noFill/>
          <a:ln/>
        </p:spPr>
        <p:txBody>
          <a:bodyPr wrap="square" lIns="0" tIns="0" rIns="0" bIns="0" rtlCol="0" anchor="ctr"/>
          <a:lstStyle/>
          <a:p>
            <a:pPr indent="0" marL="0">
              <a:buNone/>
            </a:pPr>
            <a:r>
              <a:rPr lang="en-US" sz="1100" dirty="0">
                <a:solidFill>
                  <a:srgbClr val="8FA3C8"/>
                </a:solidFill>
                <a:latin typeface="Arial" pitchFamily="34" charset="0"/>
                <a:ea typeface="Arial" pitchFamily="34" charset="-122"/>
                <a:cs typeface="Arial" pitchFamily="34" charset="-120"/>
              </a:rPr>
              <a:t>Elastic — the Search AI Company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292608"/>
          </a:xfrm>
          <a:prstGeom prst="rect">
            <a:avLst/>
          </a:prstGeom>
          <a:noFill/>
          <a:ln/>
        </p:spPr>
        <p:txBody>
          <a:bodyPr wrap="square" lIns="0" tIns="0" rIns="0" bIns="0" rtlCol="0" anchor="ctr"/>
          <a:lstStyle/>
          <a:p>
            <a:pPr indent="0" marL="0">
              <a:buNone/>
            </a:pPr>
            <a:r>
              <a:rPr lang="en-US" sz="1300" b="1" spc="200" kern="0" dirty="0">
                <a:solidFill>
                  <a:srgbClr val="0B64DD"/>
                </a:solidFill>
                <a:latin typeface="Arial" pitchFamily="34" charset="0"/>
                <a:ea typeface="Arial" pitchFamily="34" charset="-122"/>
                <a:cs typeface="Arial" pitchFamily="34" charset="-120"/>
              </a:rPr>
              <a:t>BEFORE</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C1E23"/>
                </a:solidFill>
                <a:latin typeface="Arial" pitchFamily="34" charset="0"/>
                <a:ea typeface="Arial" pitchFamily="34" charset="-122"/>
                <a:cs typeface="Arial" pitchFamily="34" charset="-120"/>
              </a:rPr>
              <a:t>Two platforms, split signals</a:t>
            </a:r>
            <a:endParaRPr lang="en-US" sz="3200" dirty="0"/>
          </a:p>
        </p:txBody>
      </p:sp>
      <p:sp>
        <p:nvSpPr>
          <p:cNvPr id="4" name="Shape 2"/>
          <p:cNvSpPr/>
          <p:nvPr/>
        </p:nvSpPr>
        <p:spPr>
          <a:xfrm>
            <a:off x="1828800" y="1554480"/>
            <a:ext cx="3108960" cy="502920"/>
          </a:xfrm>
          <a:prstGeom prst="roundRect">
            <a:avLst>
              <a:gd name="adj" fmla="val 12727"/>
            </a:avLst>
          </a:prstGeom>
          <a:solidFill>
            <a:srgbClr val="DCE2EA"/>
          </a:solidFill>
          <a:ln w="12700">
            <a:solidFill>
              <a:srgbClr val="153385"/>
            </a:solidFill>
            <a:prstDash val="solid"/>
          </a:ln>
          <a:effectLst>
            <a:outerShdw sx="100000" sy="100000" kx="0" ky="0" algn="bl" rotWithShape="0" blurRad="76200" dist="25400" dir="5400000">
              <a:srgbClr val="AAB4C4">
                <a:alpha val="35000"/>
              </a:srgbClr>
            </a:outerShdw>
          </a:effectLst>
        </p:spPr>
      </p:sp>
      <p:sp>
        <p:nvSpPr>
          <p:cNvPr id="5" name="Text 3"/>
          <p:cNvSpPr txBox="1"/>
          <p:nvPr/>
        </p:nvSpPr>
        <p:spPr>
          <a:xfrm>
            <a:off x="1828800" y="1554480"/>
            <a:ext cx="3108960" cy="502920"/>
          </a:xfrm>
          <a:prstGeom prst="rect">
            <a:avLst/>
          </a:prstGeom>
          <a:noFill/>
          <a:ln/>
        </p:spPr>
        <p:txBody>
          <a:bodyPr wrap="square" lIns="508" tIns="508" rIns="508" bIns="508" rtlCol="0" anchor="ctr"/>
          <a:lstStyle/>
          <a:p>
            <a:pPr algn="ctr" indent="0" marL="0">
              <a:buNone/>
            </a:pPr>
            <a:r>
              <a:rPr lang="en-US" sz="1100" b="1" dirty="0">
                <a:solidFill>
                  <a:srgbClr val="1C1E23"/>
                </a:solidFill>
                <a:latin typeface="Arial" pitchFamily="34" charset="0"/>
                <a:ea typeface="Arial" pitchFamily="34" charset="-122"/>
                <a:cs typeface="Arial" pitchFamily="34" charset="-120"/>
              </a:rPr>
              <a:t>Grafana (PromQL + Elastic queries)</a:t>
            </a:r>
            <a:endParaRPr lang="en-US" sz="1100" dirty="0"/>
          </a:p>
        </p:txBody>
      </p:sp>
      <p:sp>
        <p:nvSpPr>
          <p:cNvPr id="6" name="Shape 4"/>
          <p:cNvSpPr/>
          <p:nvPr/>
        </p:nvSpPr>
        <p:spPr>
          <a:xfrm>
            <a:off x="548640" y="2651760"/>
            <a:ext cx="1737360" cy="548640"/>
          </a:xfrm>
          <a:prstGeom prst="roundRect">
            <a:avLst>
              <a:gd name="adj" fmla="val 11667"/>
            </a:avLst>
          </a:prstGeom>
          <a:solidFill>
            <a:srgbClr val="FFFFFF"/>
          </a:solidFill>
          <a:ln w="12700">
            <a:solidFill>
              <a:srgbClr val="153385"/>
            </a:solidFill>
            <a:prstDash val="solid"/>
          </a:ln>
          <a:effectLst>
            <a:outerShdw sx="100000" sy="100000" kx="0" ky="0" algn="bl" rotWithShape="0" blurRad="76200" dist="25400" dir="5400000">
              <a:srgbClr val="AAB4C4">
                <a:alpha val="35000"/>
              </a:srgbClr>
            </a:outerShdw>
          </a:effectLst>
        </p:spPr>
      </p:sp>
      <p:sp>
        <p:nvSpPr>
          <p:cNvPr id="7" name="Text 5"/>
          <p:cNvSpPr txBox="1"/>
          <p:nvPr/>
        </p:nvSpPr>
        <p:spPr>
          <a:xfrm>
            <a:off x="548640" y="2651760"/>
            <a:ext cx="1737360" cy="548640"/>
          </a:xfrm>
          <a:prstGeom prst="rect">
            <a:avLst/>
          </a:prstGeom>
          <a:noFill/>
          <a:ln/>
        </p:spPr>
        <p:txBody>
          <a:bodyPr wrap="square" lIns="508" tIns="508" rIns="508" bIns="508" rtlCol="0" anchor="ctr"/>
          <a:lstStyle/>
          <a:p>
            <a:pPr algn="ctr" indent="0" marL="0">
              <a:buNone/>
            </a:pPr>
            <a:r>
              <a:rPr lang="en-US" sz="1100" b="1" dirty="0">
                <a:solidFill>
                  <a:srgbClr val="1C1E23"/>
                </a:solidFill>
                <a:latin typeface="Arial" pitchFamily="34" charset="0"/>
                <a:ea typeface="Arial" pitchFamily="34" charset="-122"/>
                <a:cs typeface="Arial" pitchFamily="34" charset="-120"/>
              </a:rPr>
              <a:t>Prometheus</a:t>
            </a:r>
            <a:endParaRPr lang="en-US" sz="1100" dirty="0"/>
          </a:p>
        </p:txBody>
      </p:sp>
      <p:sp>
        <p:nvSpPr>
          <p:cNvPr id="8" name="Shape 6"/>
          <p:cNvSpPr/>
          <p:nvPr/>
        </p:nvSpPr>
        <p:spPr>
          <a:xfrm>
            <a:off x="548640" y="3566160"/>
            <a:ext cx="4023360" cy="1920240"/>
          </a:xfrm>
          <a:prstGeom prst="roundRect">
            <a:avLst>
              <a:gd name="adj" fmla="val 4286"/>
            </a:avLst>
          </a:prstGeom>
          <a:solidFill>
            <a:srgbClr val="F5F7FA"/>
          </a:solidFill>
          <a:ln w="15875">
            <a:solidFill>
              <a:srgbClr val="F04E98"/>
            </a:solidFill>
            <a:prstDash val="solid"/>
          </a:ln>
        </p:spPr>
      </p:sp>
      <p:sp>
        <p:nvSpPr>
          <p:cNvPr id="9" name="Text 7"/>
          <p:cNvSpPr txBox="1"/>
          <p:nvPr/>
        </p:nvSpPr>
        <p:spPr>
          <a:xfrm>
            <a:off x="731520" y="3657600"/>
            <a:ext cx="3200400" cy="274320"/>
          </a:xfrm>
          <a:prstGeom prst="rect">
            <a:avLst/>
          </a:prstGeom>
          <a:noFill/>
          <a:ln/>
        </p:spPr>
        <p:txBody>
          <a:bodyPr wrap="square" lIns="0" tIns="0" rIns="0" bIns="0" rtlCol="0" anchor="ctr"/>
          <a:lstStyle/>
          <a:p>
            <a:pPr algn="l" indent="0" marL="0">
              <a:buNone/>
            </a:pPr>
            <a:r>
              <a:rPr lang="en-US" sz="1050" b="1" dirty="0">
                <a:solidFill>
                  <a:srgbClr val="F04E98"/>
                </a:solidFill>
                <a:latin typeface="Arial" pitchFamily="34" charset="0"/>
                <a:ea typeface="Arial" pitchFamily="34" charset="-122"/>
                <a:cs typeface="Arial" pitchFamily="34" charset="-120"/>
              </a:rPr>
              <a:t>Thanos — dedicated long-term metrics infra</a:t>
            </a:r>
            <a:endParaRPr lang="en-US" sz="1050" dirty="0"/>
          </a:p>
        </p:txBody>
      </p:sp>
      <p:sp>
        <p:nvSpPr>
          <p:cNvPr id="10" name="Shape 8"/>
          <p:cNvSpPr/>
          <p:nvPr/>
        </p:nvSpPr>
        <p:spPr>
          <a:xfrm>
            <a:off x="777240" y="4069080"/>
            <a:ext cx="1691640" cy="502920"/>
          </a:xfrm>
          <a:prstGeom prst="roundRect">
            <a:avLst>
              <a:gd name="adj" fmla="val 12727"/>
            </a:avLst>
          </a:prstGeom>
          <a:solidFill>
            <a:srgbClr val="FFFFFF"/>
          </a:solidFill>
          <a:ln w="12700">
            <a:solidFill>
              <a:srgbClr val="153385"/>
            </a:solidFill>
            <a:prstDash val="solid"/>
          </a:ln>
        </p:spPr>
      </p:sp>
      <p:sp>
        <p:nvSpPr>
          <p:cNvPr id="11" name="Text 9"/>
          <p:cNvSpPr txBox="1"/>
          <p:nvPr/>
        </p:nvSpPr>
        <p:spPr>
          <a:xfrm>
            <a:off x="777240" y="4069080"/>
            <a:ext cx="1691640" cy="502920"/>
          </a:xfrm>
          <a:prstGeom prst="rect">
            <a:avLst/>
          </a:prstGeom>
          <a:noFill/>
          <a:ln/>
        </p:spPr>
        <p:txBody>
          <a:bodyPr wrap="square" lIns="508" tIns="508" rIns="508" bIns="508" rtlCol="0" anchor="ctr"/>
          <a:lstStyle/>
          <a:p>
            <a:pPr algn="ctr" indent="0" marL="0">
              <a:buNone/>
            </a:pPr>
            <a:r>
              <a:rPr lang="en-US" sz="1000" dirty="0">
                <a:solidFill>
                  <a:srgbClr val="1C1E23"/>
                </a:solidFill>
                <a:latin typeface="Arial" pitchFamily="34" charset="0"/>
                <a:ea typeface="Arial" pitchFamily="34" charset="-122"/>
                <a:cs typeface="Arial" pitchFamily="34" charset="-120"/>
              </a:rPr>
              <a:t>Sidecar / Receive</a:t>
            </a:r>
            <a:endParaRPr lang="en-US" sz="1000" dirty="0"/>
          </a:p>
        </p:txBody>
      </p:sp>
      <p:sp>
        <p:nvSpPr>
          <p:cNvPr id="12" name="Shape 10"/>
          <p:cNvSpPr/>
          <p:nvPr/>
        </p:nvSpPr>
        <p:spPr>
          <a:xfrm>
            <a:off x="2651760" y="4069080"/>
            <a:ext cx="1691640" cy="502920"/>
          </a:xfrm>
          <a:prstGeom prst="roundRect">
            <a:avLst>
              <a:gd name="adj" fmla="val 12727"/>
            </a:avLst>
          </a:prstGeom>
          <a:solidFill>
            <a:srgbClr val="FFFFFF"/>
          </a:solidFill>
          <a:ln w="12700">
            <a:solidFill>
              <a:srgbClr val="153385"/>
            </a:solidFill>
            <a:prstDash val="solid"/>
          </a:ln>
        </p:spPr>
      </p:sp>
      <p:sp>
        <p:nvSpPr>
          <p:cNvPr id="13" name="Text 11"/>
          <p:cNvSpPr txBox="1"/>
          <p:nvPr/>
        </p:nvSpPr>
        <p:spPr>
          <a:xfrm>
            <a:off x="2651760" y="4069080"/>
            <a:ext cx="1691640" cy="502920"/>
          </a:xfrm>
          <a:prstGeom prst="rect">
            <a:avLst/>
          </a:prstGeom>
          <a:noFill/>
          <a:ln/>
        </p:spPr>
        <p:txBody>
          <a:bodyPr wrap="square" lIns="508" tIns="508" rIns="508" bIns="508" rtlCol="0" anchor="ctr"/>
          <a:lstStyle/>
          <a:p>
            <a:pPr algn="ctr" indent="0" marL="0">
              <a:buNone/>
            </a:pPr>
            <a:r>
              <a:rPr lang="en-US" sz="1000" dirty="0">
                <a:solidFill>
                  <a:srgbClr val="1C1E23"/>
                </a:solidFill>
                <a:latin typeface="Arial" pitchFamily="34" charset="0"/>
                <a:ea typeface="Arial" pitchFamily="34" charset="-122"/>
                <a:cs typeface="Arial" pitchFamily="34" charset="-120"/>
              </a:rPr>
              <a:t>Querier</a:t>
            </a:r>
            <a:endParaRPr lang="en-US" sz="1000" dirty="0"/>
          </a:p>
        </p:txBody>
      </p:sp>
      <p:sp>
        <p:nvSpPr>
          <p:cNvPr id="14" name="Shape 12"/>
          <p:cNvSpPr/>
          <p:nvPr/>
        </p:nvSpPr>
        <p:spPr>
          <a:xfrm>
            <a:off x="777240" y="4800600"/>
            <a:ext cx="1691640" cy="502920"/>
          </a:xfrm>
          <a:prstGeom prst="roundRect">
            <a:avLst>
              <a:gd name="adj" fmla="val 12727"/>
            </a:avLst>
          </a:prstGeom>
          <a:solidFill>
            <a:srgbClr val="FFFFFF"/>
          </a:solidFill>
          <a:ln w="12700">
            <a:solidFill>
              <a:srgbClr val="153385"/>
            </a:solidFill>
            <a:prstDash val="solid"/>
          </a:ln>
        </p:spPr>
      </p:sp>
      <p:sp>
        <p:nvSpPr>
          <p:cNvPr id="15" name="Text 13"/>
          <p:cNvSpPr txBox="1"/>
          <p:nvPr/>
        </p:nvSpPr>
        <p:spPr>
          <a:xfrm>
            <a:off x="777240" y="4800600"/>
            <a:ext cx="1691640" cy="502920"/>
          </a:xfrm>
          <a:prstGeom prst="rect">
            <a:avLst/>
          </a:prstGeom>
          <a:noFill/>
          <a:ln/>
        </p:spPr>
        <p:txBody>
          <a:bodyPr wrap="square" lIns="508" tIns="508" rIns="508" bIns="508" rtlCol="0" anchor="ctr"/>
          <a:lstStyle/>
          <a:p>
            <a:pPr algn="ctr" indent="0" marL="0">
              <a:buNone/>
            </a:pPr>
            <a:r>
              <a:rPr lang="en-US" sz="1000" dirty="0">
                <a:solidFill>
                  <a:srgbClr val="1C1E23"/>
                </a:solidFill>
                <a:latin typeface="Arial" pitchFamily="34" charset="0"/>
                <a:ea typeface="Arial" pitchFamily="34" charset="-122"/>
                <a:cs typeface="Arial" pitchFamily="34" charset="-120"/>
              </a:rPr>
              <a:t>Compactor</a:t>
            </a:r>
            <a:endParaRPr lang="en-US" sz="1000" dirty="0"/>
          </a:p>
        </p:txBody>
      </p:sp>
      <p:sp>
        <p:nvSpPr>
          <p:cNvPr id="16" name="Shape 14"/>
          <p:cNvSpPr/>
          <p:nvPr/>
        </p:nvSpPr>
        <p:spPr>
          <a:xfrm>
            <a:off x="2651760" y="4800600"/>
            <a:ext cx="1691640" cy="502920"/>
          </a:xfrm>
          <a:prstGeom prst="roundRect">
            <a:avLst>
              <a:gd name="adj" fmla="val 12727"/>
            </a:avLst>
          </a:prstGeom>
          <a:solidFill>
            <a:srgbClr val="FFFFFF"/>
          </a:solidFill>
          <a:ln w="12700">
            <a:solidFill>
              <a:srgbClr val="153385"/>
            </a:solidFill>
            <a:prstDash val="solid"/>
          </a:ln>
        </p:spPr>
      </p:sp>
      <p:sp>
        <p:nvSpPr>
          <p:cNvPr id="17" name="Text 15"/>
          <p:cNvSpPr txBox="1"/>
          <p:nvPr/>
        </p:nvSpPr>
        <p:spPr>
          <a:xfrm>
            <a:off x="2651760" y="4800600"/>
            <a:ext cx="1691640" cy="502920"/>
          </a:xfrm>
          <a:prstGeom prst="rect">
            <a:avLst/>
          </a:prstGeom>
          <a:noFill/>
          <a:ln/>
        </p:spPr>
        <p:txBody>
          <a:bodyPr wrap="square" lIns="508" tIns="508" rIns="508" bIns="508" rtlCol="0" anchor="ctr"/>
          <a:lstStyle/>
          <a:p>
            <a:pPr algn="ctr" indent="0" marL="0">
              <a:buNone/>
            </a:pPr>
            <a:r>
              <a:rPr lang="en-US" sz="1000" dirty="0">
                <a:solidFill>
                  <a:srgbClr val="1C1E23"/>
                </a:solidFill>
                <a:latin typeface="Arial" pitchFamily="34" charset="0"/>
                <a:ea typeface="Arial" pitchFamily="34" charset="-122"/>
                <a:cs typeface="Arial" pitchFamily="34" charset="-120"/>
              </a:rPr>
              <a:t>Store gateway</a:t>
            </a:r>
            <a:endParaRPr lang="en-US" sz="1000" dirty="0"/>
          </a:p>
        </p:txBody>
      </p:sp>
      <p:sp>
        <p:nvSpPr>
          <p:cNvPr id="18" name="Shape 16"/>
          <p:cNvSpPr/>
          <p:nvPr/>
        </p:nvSpPr>
        <p:spPr>
          <a:xfrm>
            <a:off x="548640" y="5943600"/>
            <a:ext cx="2286000" cy="548640"/>
          </a:xfrm>
          <a:prstGeom prst="roundRect">
            <a:avLst>
              <a:gd name="adj" fmla="val 11667"/>
            </a:avLst>
          </a:prstGeom>
          <a:solidFill>
            <a:srgbClr val="DCE2EA"/>
          </a:solidFill>
          <a:ln w="12700">
            <a:solidFill>
              <a:srgbClr val="153385"/>
            </a:solidFill>
            <a:prstDash val="solid"/>
          </a:ln>
          <a:effectLst>
            <a:outerShdw sx="100000" sy="100000" kx="0" ky="0" algn="bl" rotWithShape="0" blurRad="76200" dist="25400" dir="5400000">
              <a:srgbClr val="AAB4C4">
                <a:alpha val="35000"/>
              </a:srgbClr>
            </a:outerShdw>
          </a:effectLst>
        </p:spPr>
      </p:sp>
      <p:sp>
        <p:nvSpPr>
          <p:cNvPr id="19" name="Text 17"/>
          <p:cNvSpPr txBox="1"/>
          <p:nvPr/>
        </p:nvSpPr>
        <p:spPr>
          <a:xfrm>
            <a:off x="548640" y="5943600"/>
            <a:ext cx="2286000" cy="548640"/>
          </a:xfrm>
          <a:prstGeom prst="rect">
            <a:avLst/>
          </a:prstGeom>
          <a:noFill/>
          <a:ln/>
        </p:spPr>
        <p:txBody>
          <a:bodyPr wrap="square" lIns="508" tIns="508" rIns="508" bIns="508" rtlCol="0" anchor="ctr"/>
          <a:lstStyle/>
          <a:p>
            <a:pPr algn="ctr" indent="0" marL="0">
              <a:buNone/>
            </a:pPr>
            <a:r>
              <a:rPr lang="en-US" sz="950" dirty="0">
                <a:solidFill>
                  <a:srgbClr val="1C1E23"/>
                </a:solidFill>
                <a:latin typeface="Arial" pitchFamily="34" charset="0"/>
                <a:ea typeface="Arial" pitchFamily="34" charset="-122"/>
                <a:cs typeface="Arial" pitchFamily="34" charset="-120"/>
              </a:rPr>
              <a:t>Object store (S3)</a:t>
            </a:r>
            <a:endParaRPr lang="en-US" sz="950" dirty="0"/>
          </a:p>
          <a:p>
            <a:pPr algn="ctr" indent="0" marL="0">
              <a:buNone/>
            </a:pPr>
            <a:r>
              <a:rPr lang="en-US" sz="950" dirty="0">
                <a:solidFill>
                  <a:srgbClr val="1C1E23"/>
                </a:solidFill>
                <a:latin typeface="Arial" pitchFamily="34" charset="0"/>
                <a:ea typeface="Arial" pitchFamily="34" charset="-122"/>
                <a:cs typeface="Arial" pitchFamily="34" charset="-120"/>
              </a:rPr>
              <a:t>12 mo of TSDB blocks</a:t>
            </a:r>
            <a:endParaRPr lang="en-US" sz="950" dirty="0"/>
          </a:p>
        </p:txBody>
      </p:sp>
      <p:sp>
        <p:nvSpPr>
          <p:cNvPr id="20" name="Shape 18"/>
          <p:cNvSpPr/>
          <p:nvPr/>
        </p:nvSpPr>
        <p:spPr>
          <a:xfrm>
            <a:off x="5120640" y="3840480"/>
            <a:ext cx="2286000" cy="1371600"/>
          </a:xfrm>
          <a:prstGeom prst="roundRect">
            <a:avLst>
              <a:gd name="adj" fmla="val 4667"/>
            </a:avLst>
          </a:prstGeom>
          <a:solidFill>
            <a:srgbClr val="0B64DD"/>
          </a:solidFill>
          <a:ln w="12700">
            <a:solidFill>
              <a:srgbClr val="153385"/>
            </a:solidFill>
            <a:prstDash val="solid"/>
          </a:ln>
          <a:effectLst>
            <a:outerShdw sx="100000" sy="100000" kx="0" ky="0" algn="bl" rotWithShape="0" blurRad="76200" dist="25400" dir="5400000">
              <a:srgbClr val="AAB4C4">
                <a:alpha val="35000"/>
              </a:srgbClr>
            </a:outerShdw>
          </a:effectLst>
        </p:spPr>
      </p:sp>
      <p:sp>
        <p:nvSpPr>
          <p:cNvPr id="21" name="Text 19"/>
          <p:cNvSpPr txBox="1"/>
          <p:nvPr/>
        </p:nvSpPr>
        <p:spPr>
          <a:xfrm>
            <a:off x="5120640" y="3840480"/>
            <a:ext cx="2286000" cy="1371600"/>
          </a:xfrm>
          <a:prstGeom prst="rect">
            <a:avLst/>
          </a:prstGeom>
          <a:noFill/>
          <a:ln/>
        </p:spPr>
        <p:txBody>
          <a:bodyPr wrap="square" lIns="508" tIns="508" rIns="508" bIns="508"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Elastic</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logs + APM traces</a:t>
            </a:r>
            <a:endParaRPr lang="en-US" sz="1300" dirty="0"/>
          </a:p>
        </p:txBody>
      </p:sp>
      <p:sp>
        <p:nvSpPr>
          <p:cNvPr id="22" name="Shape 20"/>
          <p:cNvSpPr/>
          <p:nvPr/>
        </p:nvSpPr>
        <p:spPr>
          <a:xfrm>
            <a:off x="1417320" y="3200400"/>
            <a:ext cx="0" cy="365760"/>
          </a:xfrm>
          <a:prstGeom prst="line">
            <a:avLst/>
          </a:prstGeom>
          <a:noFill/>
          <a:ln w="25400">
            <a:solidFill>
              <a:srgbClr val="153385"/>
            </a:solidFill>
            <a:prstDash val="solid"/>
            <a:tailEnd type="triangle"/>
          </a:ln>
        </p:spPr>
      </p:sp>
      <p:sp>
        <p:nvSpPr>
          <p:cNvPr id="23" name="Shape 21"/>
          <p:cNvSpPr/>
          <p:nvPr/>
        </p:nvSpPr>
        <p:spPr>
          <a:xfrm>
            <a:off x="1691640" y="5577840"/>
            <a:ext cx="0" cy="365760"/>
          </a:xfrm>
          <a:prstGeom prst="line">
            <a:avLst/>
          </a:prstGeom>
          <a:noFill/>
          <a:ln w="25400">
            <a:solidFill>
              <a:srgbClr val="153385"/>
            </a:solidFill>
            <a:prstDash val="solid"/>
            <a:tailEnd type="triangle"/>
          </a:ln>
        </p:spPr>
      </p:sp>
      <p:sp>
        <p:nvSpPr>
          <p:cNvPr id="24" name="Shape 22"/>
          <p:cNvSpPr/>
          <p:nvPr/>
        </p:nvSpPr>
        <p:spPr>
          <a:xfrm>
            <a:off x="2560320" y="2057400"/>
            <a:ext cx="0" cy="1463040"/>
          </a:xfrm>
          <a:prstGeom prst="line">
            <a:avLst/>
          </a:prstGeom>
          <a:noFill/>
          <a:ln w="25400">
            <a:solidFill>
              <a:srgbClr val="153385"/>
            </a:solidFill>
            <a:prstDash val="solid"/>
            <a:tailEnd type="triangle"/>
          </a:ln>
        </p:spPr>
      </p:sp>
      <p:sp>
        <p:nvSpPr>
          <p:cNvPr id="25" name="Shape 23"/>
          <p:cNvSpPr/>
          <p:nvPr/>
        </p:nvSpPr>
        <p:spPr>
          <a:xfrm>
            <a:off x="4206240" y="2057400"/>
            <a:ext cx="1828800" cy="1783080"/>
          </a:xfrm>
          <a:prstGeom prst="line">
            <a:avLst/>
          </a:prstGeom>
          <a:noFill/>
          <a:ln w="25400">
            <a:solidFill>
              <a:srgbClr val="153385"/>
            </a:solidFill>
            <a:prstDash val="solid"/>
            <a:tailEnd type="triangle"/>
          </a:ln>
        </p:spPr>
      </p:sp>
      <p:sp>
        <p:nvSpPr>
          <p:cNvPr id="26" name="Text 24"/>
          <p:cNvSpPr txBox="1"/>
          <p:nvPr/>
        </p:nvSpPr>
        <p:spPr>
          <a:xfrm>
            <a:off x="5257800" y="2788920"/>
            <a:ext cx="2194560" cy="274320"/>
          </a:xfrm>
          <a:prstGeom prst="rect">
            <a:avLst/>
          </a:prstGeom>
          <a:noFill/>
          <a:ln/>
        </p:spPr>
        <p:txBody>
          <a:bodyPr wrap="square" lIns="0" tIns="0" rIns="0" bIns="0" rtlCol="0" anchor="ctr"/>
          <a:lstStyle/>
          <a:p>
            <a:pPr algn="l" indent="0" marL="0">
              <a:buNone/>
            </a:pPr>
            <a:r>
              <a:rPr lang="en-US" sz="900" i="1" dirty="0">
                <a:solidFill>
                  <a:srgbClr val="153385"/>
                </a:solidFill>
                <a:latin typeface="Arial" pitchFamily="34" charset="0"/>
                <a:ea typeface="Arial" pitchFamily="34" charset="-122"/>
                <a:cs typeface="Arial" pitchFamily="34" charset="-120"/>
              </a:rPr>
              <a:t>logs + traces only</a:t>
            </a:r>
            <a:endParaRPr lang="en-US" sz="900" dirty="0"/>
          </a:p>
        </p:txBody>
      </p:sp>
      <p:sp>
        <p:nvSpPr>
          <p:cNvPr id="27" name="Shape 25"/>
          <p:cNvSpPr/>
          <p:nvPr/>
        </p:nvSpPr>
        <p:spPr>
          <a:xfrm>
            <a:off x="7863840" y="1554480"/>
            <a:ext cx="3794760" cy="1371600"/>
          </a:xfrm>
          <a:prstGeom prst="roundRect">
            <a:avLst>
              <a:gd name="adj" fmla="val 6000"/>
            </a:avLst>
          </a:prstGeom>
          <a:solidFill>
            <a:srgbClr val="F5F7FA"/>
          </a:solidFill>
          <a:ln w="9525">
            <a:solidFill>
              <a:srgbClr val="DCE2EA"/>
            </a:solidFill>
            <a:prstDash val="solid"/>
          </a:ln>
        </p:spPr>
      </p:sp>
      <p:sp>
        <p:nvSpPr>
          <p:cNvPr id="28" name="Shape 26"/>
          <p:cNvSpPr/>
          <p:nvPr/>
        </p:nvSpPr>
        <p:spPr>
          <a:xfrm>
            <a:off x="8065008" y="1755648"/>
            <a:ext cx="310896" cy="310896"/>
          </a:xfrm>
          <a:prstGeom prst="ellipse">
            <a:avLst/>
          </a:prstGeom>
          <a:solidFill>
            <a:srgbClr val="F04E98"/>
          </a:solidFill>
          <a:ln/>
        </p:spPr>
      </p:sp>
      <p:sp>
        <p:nvSpPr>
          <p:cNvPr id="29" name="Text 27"/>
          <p:cNvSpPr txBox="1"/>
          <p:nvPr/>
        </p:nvSpPr>
        <p:spPr>
          <a:xfrm>
            <a:off x="8065008" y="17556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30" name="Text 28"/>
          <p:cNvSpPr txBox="1"/>
          <p:nvPr/>
        </p:nvSpPr>
        <p:spPr>
          <a:xfrm>
            <a:off x="8485632" y="1700784"/>
            <a:ext cx="3017520" cy="411480"/>
          </a:xfrm>
          <a:prstGeom prst="rect">
            <a:avLst/>
          </a:prstGeom>
          <a:noFill/>
          <a:ln/>
        </p:spPr>
        <p:txBody>
          <a:bodyPr wrap="square" lIns="0" tIns="0" rIns="0" bIns="0" rtlCol="0" anchor="ctr"/>
          <a:lstStyle/>
          <a:p>
            <a:pPr indent="0" marL="0">
              <a:buNone/>
            </a:pPr>
            <a:r>
              <a:rPr lang="en-US" sz="1300" b="1" dirty="0">
                <a:solidFill>
                  <a:srgbClr val="1C1E23"/>
                </a:solidFill>
                <a:latin typeface="Arial" pitchFamily="34" charset="0"/>
                <a:ea typeface="Arial" pitchFamily="34" charset="-122"/>
                <a:cs typeface="Arial" pitchFamily="34" charset="-120"/>
              </a:rPr>
              <a:t>Twice the infrastructure</a:t>
            </a:r>
            <a:endParaRPr lang="en-US" sz="1300" dirty="0"/>
          </a:p>
        </p:txBody>
      </p:sp>
      <p:sp>
        <p:nvSpPr>
          <p:cNvPr id="31" name="Text 29"/>
          <p:cNvSpPr txBox="1"/>
          <p:nvPr/>
        </p:nvSpPr>
        <p:spPr>
          <a:xfrm>
            <a:off x="8485632" y="2084832"/>
            <a:ext cx="3017520" cy="713232"/>
          </a:xfrm>
          <a:prstGeom prst="rect">
            <a:avLst/>
          </a:prstGeom>
          <a:noFill/>
          <a:ln/>
        </p:spPr>
        <p:txBody>
          <a:bodyPr wrap="square" lIns="0" tIns="0" rIns="0" bIns="0" rtlCol="0" anchor="t"/>
          <a:lstStyle/>
          <a:p>
            <a:pPr indent="0" marL="0">
              <a:buNone/>
            </a:pPr>
            <a:r>
              <a:rPr lang="en-US" sz="1100" dirty="0">
                <a:solidFill>
                  <a:srgbClr val="3A4354"/>
                </a:solidFill>
                <a:latin typeface="Arial" pitchFamily="34" charset="0"/>
                <a:ea typeface="Arial" pitchFamily="34" charset="-122"/>
                <a:cs typeface="Arial" pitchFamily="34" charset="-120"/>
              </a:rPr>
              <a:t>Queriers, store gateways, compactors, and receivers to run, patch, and pay for — alongside Elastic.</a:t>
            </a:r>
            <a:endParaRPr lang="en-US" sz="1100" dirty="0"/>
          </a:p>
        </p:txBody>
      </p:sp>
      <p:sp>
        <p:nvSpPr>
          <p:cNvPr id="32" name="Shape 30"/>
          <p:cNvSpPr/>
          <p:nvPr/>
        </p:nvSpPr>
        <p:spPr>
          <a:xfrm>
            <a:off x="7863840" y="3108960"/>
            <a:ext cx="3794760" cy="1371600"/>
          </a:xfrm>
          <a:prstGeom prst="roundRect">
            <a:avLst>
              <a:gd name="adj" fmla="val 6000"/>
            </a:avLst>
          </a:prstGeom>
          <a:solidFill>
            <a:srgbClr val="F5F7FA"/>
          </a:solidFill>
          <a:ln w="9525">
            <a:solidFill>
              <a:srgbClr val="DCE2EA"/>
            </a:solidFill>
            <a:prstDash val="solid"/>
          </a:ln>
        </p:spPr>
      </p:sp>
      <p:sp>
        <p:nvSpPr>
          <p:cNvPr id="33" name="Shape 31"/>
          <p:cNvSpPr/>
          <p:nvPr/>
        </p:nvSpPr>
        <p:spPr>
          <a:xfrm>
            <a:off x="8065008" y="3310128"/>
            <a:ext cx="310896" cy="310896"/>
          </a:xfrm>
          <a:prstGeom prst="ellipse">
            <a:avLst/>
          </a:prstGeom>
          <a:solidFill>
            <a:srgbClr val="F04E98"/>
          </a:solidFill>
          <a:ln/>
        </p:spPr>
      </p:sp>
      <p:sp>
        <p:nvSpPr>
          <p:cNvPr id="34" name="Text 32"/>
          <p:cNvSpPr txBox="1"/>
          <p:nvPr/>
        </p:nvSpPr>
        <p:spPr>
          <a:xfrm>
            <a:off x="8065008" y="331012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35" name="Text 33"/>
          <p:cNvSpPr txBox="1"/>
          <p:nvPr/>
        </p:nvSpPr>
        <p:spPr>
          <a:xfrm>
            <a:off x="8485632" y="3255264"/>
            <a:ext cx="3017520" cy="411480"/>
          </a:xfrm>
          <a:prstGeom prst="rect">
            <a:avLst/>
          </a:prstGeom>
          <a:noFill/>
          <a:ln/>
        </p:spPr>
        <p:txBody>
          <a:bodyPr wrap="square" lIns="0" tIns="0" rIns="0" bIns="0" rtlCol="0" anchor="ctr"/>
          <a:lstStyle/>
          <a:p>
            <a:pPr indent="0" marL="0">
              <a:buNone/>
            </a:pPr>
            <a:r>
              <a:rPr lang="en-US" sz="1300" b="1" dirty="0">
                <a:solidFill>
                  <a:srgbClr val="1C1E23"/>
                </a:solidFill>
                <a:latin typeface="Arial" pitchFamily="34" charset="0"/>
                <a:ea typeface="Arial" pitchFamily="34" charset="-122"/>
                <a:cs typeface="Arial" pitchFamily="34" charset="-120"/>
              </a:rPr>
              <a:t>No correlation</a:t>
            </a:r>
            <a:endParaRPr lang="en-US" sz="1300" dirty="0"/>
          </a:p>
        </p:txBody>
      </p:sp>
      <p:sp>
        <p:nvSpPr>
          <p:cNvPr id="36" name="Text 34"/>
          <p:cNvSpPr txBox="1"/>
          <p:nvPr/>
        </p:nvSpPr>
        <p:spPr>
          <a:xfrm>
            <a:off x="8485632" y="3639312"/>
            <a:ext cx="3017520" cy="713232"/>
          </a:xfrm>
          <a:prstGeom prst="rect">
            <a:avLst/>
          </a:prstGeom>
          <a:noFill/>
          <a:ln/>
        </p:spPr>
        <p:txBody>
          <a:bodyPr wrap="square" lIns="0" tIns="0" rIns="0" bIns="0" rtlCol="0" anchor="t"/>
          <a:lstStyle/>
          <a:p>
            <a:pPr indent="0" marL="0">
              <a:buNone/>
            </a:pPr>
            <a:r>
              <a:rPr lang="en-US" sz="1100" dirty="0">
                <a:solidFill>
                  <a:srgbClr val="3A4354"/>
                </a:solidFill>
                <a:latin typeface="Arial" pitchFamily="34" charset="0"/>
                <a:ea typeface="Arial" pitchFamily="34" charset="-122"/>
                <a:cs typeface="Arial" pitchFamily="34" charset="-120"/>
              </a:rPr>
              <a:t>A latency spike in metrics can't be lined up with the logs and traces that explain it.</a:t>
            </a:r>
            <a:endParaRPr lang="en-US" sz="1100" dirty="0"/>
          </a:p>
        </p:txBody>
      </p:sp>
      <p:sp>
        <p:nvSpPr>
          <p:cNvPr id="37" name="Shape 35"/>
          <p:cNvSpPr/>
          <p:nvPr/>
        </p:nvSpPr>
        <p:spPr>
          <a:xfrm>
            <a:off x="7863840" y="4663440"/>
            <a:ext cx="3794760" cy="1371600"/>
          </a:xfrm>
          <a:prstGeom prst="roundRect">
            <a:avLst>
              <a:gd name="adj" fmla="val 6000"/>
            </a:avLst>
          </a:prstGeom>
          <a:solidFill>
            <a:srgbClr val="F5F7FA"/>
          </a:solidFill>
          <a:ln w="9525">
            <a:solidFill>
              <a:srgbClr val="DCE2EA"/>
            </a:solidFill>
            <a:prstDash val="solid"/>
          </a:ln>
        </p:spPr>
      </p:sp>
      <p:sp>
        <p:nvSpPr>
          <p:cNvPr id="38" name="Shape 36"/>
          <p:cNvSpPr/>
          <p:nvPr/>
        </p:nvSpPr>
        <p:spPr>
          <a:xfrm>
            <a:off x="8065008" y="4864608"/>
            <a:ext cx="310896" cy="310896"/>
          </a:xfrm>
          <a:prstGeom prst="ellipse">
            <a:avLst/>
          </a:prstGeom>
          <a:solidFill>
            <a:srgbClr val="F04E98"/>
          </a:solidFill>
          <a:ln/>
        </p:spPr>
      </p:sp>
      <p:sp>
        <p:nvSpPr>
          <p:cNvPr id="39" name="Text 37"/>
          <p:cNvSpPr txBox="1"/>
          <p:nvPr/>
        </p:nvSpPr>
        <p:spPr>
          <a:xfrm>
            <a:off x="8065008" y="486460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t>
            </a:r>
            <a:endParaRPr lang="en-US" sz="1300" dirty="0"/>
          </a:p>
        </p:txBody>
      </p:sp>
      <p:sp>
        <p:nvSpPr>
          <p:cNvPr id="40" name="Text 38"/>
          <p:cNvSpPr txBox="1"/>
          <p:nvPr/>
        </p:nvSpPr>
        <p:spPr>
          <a:xfrm>
            <a:off x="8485632" y="4809744"/>
            <a:ext cx="3017520" cy="411480"/>
          </a:xfrm>
          <a:prstGeom prst="rect">
            <a:avLst/>
          </a:prstGeom>
          <a:noFill/>
          <a:ln/>
        </p:spPr>
        <p:txBody>
          <a:bodyPr wrap="square" lIns="0" tIns="0" rIns="0" bIns="0" rtlCol="0" anchor="ctr"/>
          <a:lstStyle/>
          <a:p>
            <a:pPr indent="0" marL="0">
              <a:buNone/>
            </a:pPr>
            <a:r>
              <a:rPr lang="en-US" sz="1300" b="1" dirty="0">
                <a:solidFill>
                  <a:srgbClr val="1C1E23"/>
                </a:solidFill>
                <a:latin typeface="Arial" pitchFamily="34" charset="0"/>
                <a:ea typeface="Arial" pitchFamily="34" charset="-122"/>
                <a:cs typeface="Arial" pitchFamily="34" charset="-120"/>
              </a:rPr>
              <a:t>History locked in</a:t>
            </a:r>
            <a:endParaRPr lang="en-US" sz="1300" dirty="0"/>
          </a:p>
        </p:txBody>
      </p:sp>
      <p:sp>
        <p:nvSpPr>
          <p:cNvPr id="41" name="Text 39"/>
          <p:cNvSpPr txBox="1"/>
          <p:nvPr/>
        </p:nvSpPr>
        <p:spPr>
          <a:xfrm>
            <a:off x="8485632" y="5193792"/>
            <a:ext cx="3017520" cy="713232"/>
          </a:xfrm>
          <a:prstGeom prst="rect">
            <a:avLst/>
          </a:prstGeom>
          <a:noFill/>
          <a:ln/>
        </p:spPr>
        <p:txBody>
          <a:bodyPr wrap="square" lIns="0" tIns="0" rIns="0" bIns="0" rtlCol="0" anchor="t"/>
          <a:lstStyle/>
          <a:p>
            <a:pPr indent="0" marL="0">
              <a:buNone/>
            </a:pPr>
            <a:r>
              <a:rPr lang="en-US" sz="1100" dirty="0">
                <a:solidFill>
                  <a:srgbClr val="3A4354"/>
                </a:solidFill>
                <a:latin typeface="Arial" pitchFamily="34" charset="0"/>
                <a:ea typeface="Arial" pitchFamily="34" charset="-122"/>
                <a:cs typeface="Arial" pitchFamily="34" charset="-120"/>
              </a:rPr>
              <a:t>12 months of retention lives in Thanos — the reason it can't simply be switched off.</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292608"/>
          </a:xfrm>
          <a:prstGeom prst="rect">
            <a:avLst/>
          </a:prstGeom>
          <a:noFill/>
          <a:ln/>
        </p:spPr>
        <p:txBody>
          <a:bodyPr wrap="square" lIns="0" tIns="0" rIns="0" bIns="0" rtlCol="0" anchor="ctr"/>
          <a:lstStyle/>
          <a:p>
            <a:pPr indent="0" marL="0">
              <a:buNone/>
            </a:pPr>
            <a:r>
              <a:rPr lang="en-US" sz="1300" b="1" spc="200" kern="0" dirty="0">
                <a:solidFill>
                  <a:srgbClr val="0B64DD"/>
                </a:solidFill>
                <a:latin typeface="Arial" pitchFamily="34" charset="0"/>
                <a:ea typeface="Arial" pitchFamily="34" charset="-122"/>
                <a:cs typeface="Arial" pitchFamily="34" charset="-120"/>
              </a:rPr>
              <a:t>DURING</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C1E23"/>
                </a:solidFill>
                <a:latin typeface="Arial" pitchFamily="34" charset="0"/>
                <a:ea typeface="Arial" pitchFamily="34" charset="-122"/>
                <a:cs typeface="Arial" pitchFamily="34" charset="-120"/>
              </a:rPr>
              <a:t>Live cutover first, then backfill the history</a:t>
            </a:r>
            <a:endParaRPr lang="en-US" sz="3200" dirty="0"/>
          </a:p>
        </p:txBody>
      </p:sp>
      <p:sp>
        <p:nvSpPr>
          <p:cNvPr id="4" name="Text 2"/>
          <p:cNvSpPr txBox="1"/>
          <p:nvPr/>
        </p:nvSpPr>
        <p:spPr>
          <a:xfrm>
            <a:off x="548640" y="1481328"/>
            <a:ext cx="5486400" cy="274320"/>
          </a:xfrm>
          <a:prstGeom prst="rect">
            <a:avLst/>
          </a:prstGeom>
          <a:noFill/>
          <a:ln/>
        </p:spPr>
        <p:txBody>
          <a:bodyPr wrap="square" lIns="0" tIns="0" rIns="0" bIns="0" rtlCol="0" anchor="ctr"/>
          <a:lstStyle/>
          <a:p>
            <a:pPr algn="l" indent="0" marL="0">
              <a:buNone/>
            </a:pPr>
            <a:r>
              <a:rPr lang="en-US" sz="1200" b="1" dirty="0">
                <a:solidFill>
                  <a:srgbClr val="0B64DD"/>
                </a:solidFill>
                <a:latin typeface="Arial" pitchFamily="34" charset="0"/>
                <a:ea typeface="Arial" pitchFamily="34" charset="-122"/>
                <a:cs typeface="Arial" pitchFamily="34" charset="-120"/>
              </a:rPr>
              <a:t>1 — Day one: live metrics cut over</a:t>
            </a:r>
            <a:endParaRPr lang="en-US" sz="1200" dirty="0"/>
          </a:p>
        </p:txBody>
      </p:sp>
      <p:sp>
        <p:nvSpPr>
          <p:cNvPr id="5" name="Shape 3"/>
          <p:cNvSpPr/>
          <p:nvPr/>
        </p:nvSpPr>
        <p:spPr>
          <a:xfrm>
            <a:off x="548640" y="1828800"/>
            <a:ext cx="1737360" cy="548640"/>
          </a:xfrm>
          <a:prstGeom prst="roundRect">
            <a:avLst>
              <a:gd name="adj" fmla="val 11667"/>
            </a:avLst>
          </a:prstGeom>
          <a:solidFill>
            <a:srgbClr val="FFFFFF"/>
          </a:solidFill>
          <a:ln w="12700">
            <a:solidFill>
              <a:srgbClr val="153385"/>
            </a:solidFill>
            <a:prstDash val="solid"/>
          </a:ln>
          <a:effectLst>
            <a:outerShdw sx="100000" sy="100000" kx="0" ky="0" algn="bl" rotWithShape="0" blurRad="76200" dist="25400" dir="5400000">
              <a:srgbClr val="AAB4C4">
                <a:alpha val="35000"/>
              </a:srgbClr>
            </a:outerShdw>
          </a:effectLst>
        </p:spPr>
      </p:sp>
      <p:sp>
        <p:nvSpPr>
          <p:cNvPr id="6" name="Text 4"/>
          <p:cNvSpPr txBox="1"/>
          <p:nvPr/>
        </p:nvSpPr>
        <p:spPr>
          <a:xfrm>
            <a:off x="548640" y="1828800"/>
            <a:ext cx="1737360" cy="548640"/>
          </a:xfrm>
          <a:prstGeom prst="rect">
            <a:avLst/>
          </a:prstGeom>
          <a:noFill/>
          <a:ln/>
        </p:spPr>
        <p:txBody>
          <a:bodyPr wrap="square" lIns="508" tIns="508" rIns="508" bIns="508" rtlCol="0" anchor="ctr"/>
          <a:lstStyle/>
          <a:p>
            <a:pPr algn="ctr" indent="0" marL="0">
              <a:buNone/>
            </a:pPr>
            <a:r>
              <a:rPr lang="en-US" sz="1100" b="1" dirty="0">
                <a:solidFill>
                  <a:srgbClr val="1C1E23"/>
                </a:solidFill>
                <a:latin typeface="Arial" pitchFamily="34" charset="0"/>
                <a:ea typeface="Arial" pitchFamily="34" charset="-122"/>
                <a:cs typeface="Arial" pitchFamily="34" charset="-120"/>
              </a:rPr>
              <a:t>Prometheus</a:t>
            </a:r>
            <a:endParaRPr lang="en-US" sz="1100" dirty="0"/>
          </a:p>
        </p:txBody>
      </p:sp>
      <p:sp>
        <p:nvSpPr>
          <p:cNvPr id="7" name="Shape 5"/>
          <p:cNvSpPr/>
          <p:nvPr/>
        </p:nvSpPr>
        <p:spPr>
          <a:xfrm>
            <a:off x="3931920" y="1783080"/>
            <a:ext cx="4023360" cy="640080"/>
          </a:xfrm>
          <a:prstGeom prst="roundRect">
            <a:avLst>
              <a:gd name="adj" fmla="val 10000"/>
            </a:avLst>
          </a:prstGeom>
          <a:solidFill>
            <a:srgbClr val="0B64DD"/>
          </a:solidFill>
          <a:ln w="12700">
            <a:solidFill>
              <a:srgbClr val="153385"/>
            </a:solidFill>
            <a:prstDash val="solid"/>
          </a:ln>
          <a:effectLst>
            <a:outerShdw sx="100000" sy="100000" kx="0" ky="0" algn="bl" rotWithShape="0" blurRad="76200" dist="25400" dir="5400000">
              <a:srgbClr val="AAB4C4">
                <a:alpha val="35000"/>
              </a:srgbClr>
            </a:outerShdw>
          </a:effectLst>
        </p:spPr>
      </p:sp>
      <p:sp>
        <p:nvSpPr>
          <p:cNvPr id="8" name="Text 6"/>
          <p:cNvSpPr txBox="1"/>
          <p:nvPr/>
        </p:nvSpPr>
        <p:spPr>
          <a:xfrm>
            <a:off x="3931920" y="1783080"/>
            <a:ext cx="4023360" cy="640080"/>
          </a:xfrm>
          <a:prstGeom prst="rect">
            <a:avLst/>
          </a:prstGeom>
          <a:noFill/>
          <a:ln/>
        </p:spPr>
        <p:txBody>
          <a:bodyPr wrap="square" lIns="508" tIns="508" rIns="508" bIns="508"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Elastic time series data streams</a:t>
            </a:r>
            <a:endParaRPr lang="en-US" sz="1200" dirty="0"/>
          </a:p>
        </p:txBody>
      </p:sp>
      <p:sp>
        <p:nvSpPr>
          <p:cNvPr id="9" name="Shape 7"/>
          <p:cNvSpPr/>
          <p:nvPr/>
        </p:nvSpPr>
        <p:spPr>
          <a:xfrm>
            <a:off x="2286000" y="2103120"/>
            <a:ext cx="1645920" cy="0"/>
          </a:xfrm>
          <a:prstGeom prst="line">
            <a:avLst/>
          </a:prstGeom>
          <a:noFill/>
          <a:ln w="31750">
            <a:solidFill>
              <a:srgbClr val="0B64DD"/>
            </a:solidFill>
            <a:prstDash val="solid"/>
            <a:tailEnd type="triangle"/>
          </a:ln>
        </p:spPr>
      </p:sp>
      <p:sp>
        <p:nvSpPr>
          <p:cNvPr id="10" name="Text 8"/>
          <p:cNvSpPr txBox="1"/>
          <p:nvPr/>
        </p:nvSpPr>
        <p:spPr>
          <a:xfrm>
            <a:off x="2331720" y="1810512"/>
            <a:ext cx="1645920" cy="274320"/>
          </a:xfrm>
          <a:prstGeom prst="rect">
            <a:avLst/>
          </a:prstGeom>
          <a:noFill/>
          <a:ln/>
        </p:spPr>
        <p:txBody>
          <a:bodyPr wrap="square" lIns="0" tIns="0" rIns="0" bIns="0" rtlCol="0" anchor="ctr"/>
          <a:lstStyle/>
          <a:p>
            <a:pPr algn="ctr" indent="0" marL="0">
              <a:buNone/>
            </a:pPr>
            <a:r>
              <a:rPr lang="en-US" sz="950" i="1" dirty="0">
                <a:solidFill>
                  <a:srgbClr val="153385"/>
                </a:solidFill>
                <a:latin typeface="Arial" pitchFamily="34" charset="0"/>
                <a:ea typeface="Arial" pitchFamily="34" charset="-122"/>
                <a:cs typeface="Arial" pitchFamily="34" charset="-120"/>
              </a:rPr>
              <a:t>remote_write</a:t>
            </a:r>
            <a:endParaRPr lang="en-US" sz="950" dirty="0"/>
          </a:p>
        </p:txBody>
      </p:sp>
      <p:sp>
        <p:nvSpPr>
          <p:cNvPr id="11" name="Text 9"/>
          <p:cNvSpPr txBox="1"/>
          <p:nvPr/>
        </p:nvSpPr>
        <p:spPr>
          <a:xfrm>
            <a:off x="3977640" y="2487168"/>
            <a:ext cx="3840480" cy="274320"/>
          </a:xfrm>
          <a:prstGeom prst="rect">
            <a:avLst/>
          </a:prstGeom>
          <a:noFill/>
          <a:ln/>
        </p:spPr>
        <p:txBody>
          <a:bodyPr wrap="square" lIns="0" tIns="0" rIns="0" bIns="0" rtlCol="0" anchor="ctr"/>
          <a:lstStyle/>
          <a:p>
            <a:pPr algn="l" indent="0" marL="0">
              <a:buNone/>
            </a:pPr>
            <a:r>
              <a:rPr lang="en-US" sz="950" i="1" dirty="0">
                <a:solidFill>
                  <a:srgbClr val="153385"/>
                </a:solidFill>
                <a:latin typeface="Arial" pitchFamily="34" charset="0"/>
                <a:ea typeface="Arial" pitchFamily="34" charset="-122"/>
                <a:cs typeface="Arial" pitchFamily="34" charset="-120"/>
              </a:rPr>
              <a:t>PromQL keeps working — dashboards unchanged</a:t>
            </a:r>
            <a:endParaRPr lang="en-US" sz="950" dirty="0"/>
          </a:p>
        </p:txBody>
      </p:sp>
      <p:sp>
        <p:nvSpPr>
          <p:cNvPr id="12" name="Text 10"/>
          <p:cNvSpPr txBox="1"/>
          <p:nvPr/>
        </p:nvSpPr>
        <p:spPr>
          <a:xfrm>
            <a:off x="548640" y="3063240"/>
            <a:ext cx="7315200" cy="274320"/>
          </a:xfrm>
          <a:prstGeom prst="rect">
            <a:avLst/>
          </a:prstGeom>
          <a:noFill/>
          <a:ln/>
        </p:spPr>
        <p:txBody>
          <a:bodyPr wrap="square" lIns="0" tIns="0" rIns="0" bIns="0" rtlCol="0" anchor="ctr"/>
          <a:lstStyle/>
          <a:p>
            <a:pPr algn="l" indent="0" marL="0">
              <a:buNone/>
            </a:pPr>
            <a:r>
              <a:rPr lang="en-US" sz="1200" b="1" dirty="0">
                <a:solidFill>
                  <a:srgbClr val="0B64DD"/>
                </a:solidFill>
                <a:latin typeface="Arial" pitchFamily="34" charset="0"/>
                <a:ea typeface="Arial" pitchFamily="34" charset="-122"/>
                <a:cs typeface="Arial" pitchFamily="34" charset="-120"/>
              </a:rPr>
              <a:t>2 — Historical backfill: straight from the bucket (Thanos is not in the data path)</a:t>
            </a:r>
            <a:endParaRPr lang="en-US" sz="1200" dirty="0"/>
          </a:p>
        </p:txBody>
      </p:sp>
      <p:sp>
        <p:nvSpPr>
          <p:cNvPr id="13" name="Shape 11"/>
          <p:cNvSpPr/>
          <p:nvPr/>
        </p:nvSpPr>
        <p:spPr>
          <a:xfrm>
            <a:off x="548640" y="3429000"/>
            <a:ext cx="1828800" cy="777240"/>
          </a:xfrm>
          <a:prstGeom prst="roundRect">
            <a:avLst>
              <a:gd name="adj" fmla="val 8235"/>
            </a:avLst>
          </a:prstGeom>
          <a:solidFill>
            <a:srgbClr val="DCE2EA"/>
          </a:solidFill>
          <a:ln w="12700">
            <a:solidFill>
              <a:srgbClr val="153385"/>
            </a:solidFill>
            <a:prstDash val="solid"/>
          </a:ln>
          <a:effectLst>
            <a:outerShdw sx="100000" sy="100000" kx="0" ky="0" algn="bl" rotWithShape="0" blurRad="76200" dist="25400" dir="5400000">
              <a:srgbClr val="AAB4C4">
                <a:alpha val="35000"/>
              </a:srgbClr>
            </a:outerShdw>
          </a:effectLst>
        </p:spPr>
      </p:sp>
      <p:sp>
        <p:nvSpPr>
          <p:cNvPr id="14" name="Text 12"/>
          <p:cNvSpPr txBox="1"/>
          <p:nvPr/>
        </p:nvSpPr>
        <p:spPr>
          <a:xfrm>
            <a:off x="548640" y="3429000"/>
            <a:ext cx="1828800" cy="777240"/>
          </a:xfrm>
          <a:prstGeom prst="rect">
            <a:avLst/>
          </a:prstGeom>
          <a:noFill/>
          <a:ln/>
        </p:spPr>
        <p:txBody>
          <a:bodyPr wrap="square" lIns="508" tIns="508" rIns="508" bIns="508" rtlCol="0" anchor="ctr"/>
          <a:lstStyle/>
          <a:p>
            <a:pPr algn="ctr" indent="0" marL="0">
              <a:buNone/>
            </a:pPr>
            <a:r>
              <a:rPr lang="en-US" sz="1000" dirty="0">
                <a:solidFill>
                  <a:srgbClr val="1C1E23"/>
                </a:solidFill>
                <a:latin typeface="Arial" pitchFamily="34" charset="0"/>
                <a:ea typeface="Arial" pitchFamily="34" charset="-122"/>
                <a:cs typeface="Arial" pitchFamily="34" charset="-120"/>
              </a:rPr>
              <a:t>Object store</a:t>
            </a:r>
            <a:endParaRPr lang="en-US" sz="1000" dirty="0"/>
          </a:p>
          <a:p>
            <a:pPr algn="ctr" indent="0" marL="0">
              <a:buNone/>
            </a:pPr>
            <a:r>
              <a:rPr lang="en-US" sz="1000" dirty="0">
                <a:solidFill>
                  <a:srgbClr val="1C1E23"/>
                </a:solidFill>
                <a:latin typeface="Arial" pitchFamily="34" charset="0"/>
                <a:ea typeface="Arial" pitchFamily="34" charset="-122"/>
                <a:cs typeface="Arial" pitchFamily="34" charset="-120"/>
              </a:rPr>
              <a:t>(S3 / GCS / Azure)</a:t>
            </a:r>
            <a:endParaRPr lang="en-US" sz="1000" dirty="0"/>
          </a:p>
        </p:txBody>
      </p:sp>
      <p:sp>
        <p:nvSpPr>
          <p:cNvPr id="15" name="Shape 13"/>
          <p:cNvSpPr/>
          <p:nvPr/>
        </p:nvSpPr>
        <p:spPr>
          <a:xfrm>
            <a:off x="2880360" y="3429000"/>
            <a:ext cx="1554480" cy="777240"/>
          </a:xfrm>
          <a:prstGeom prst="roundRect">
            <a:avLst>
              <a:gd name="adj" fmla="val 8235"/>
            </a:avLst>
          </a:prstGeom>
          <a:solidFill>
            <a:srgbClr val="FFFFFF"/>
          </a:solidFill>
          <a:ln w="12700">
            <a:solidFill>
              <a:srgbClr val="153385"/>
            </a:solidFill>
            <a:prstDash val="solid"/>
          </a:ln>
          <a:effectLst>
            <a:outerShdw sx="100000" sy="100000" kx="0" ky="0" algn="bl" rotWithShape="0" blurRad="76200" dist="25400" dir="5400000">
              <a:srgbClr val="AAB4C4">
                <a:alpha val="35000"/>
              </a:srgbClr>
            </a:outerShdw>
          </a:effectLst>
        </p:spPr>
      </p:sp>
      <p:sp>
        <p:nvSpPr>
          <p:cNvPr id="16" name="Text 14"/>
          <p:cNvSpPr txBox="1"/>
          <p:nvPr/>
        </p:nvSpPr>
        <p:spPr>
          <a:xfrm>
            <a:off x="2880360" y="3429000"/>
            <a:ext cx="1554480" cy="777240"/>
          </a:xfrm>
          <a:prstGeom prst="rect">
            <a:avLst/>
          </a:prstGeom>
          <a:noFill/>
          <a:ln/>
        </p:spPr>
        <p:txBody>
          <a:bodyPr wrap="square" lIns="508" tIns="508" rIns="508" bIns="508" rtlCol="0" anchor="ctr"/>
          <a:lstStyle/>
          <a:p>
            <a:pPr algn="ctr" indent="0" marL="0">
              <a:buNone/>
            </a:pPr>
            <a:r>
              <a:rPr lang="en-US" sz="1000" dirty="0">
                <a:solidFill>
                  <a:srgbClr val="1C1E23"/>
                </a:solidFill>
                <a:latin typeface="Arial" pitchFamily="34" charset="0"/>
                <a:ea typeface="Arial" pitchFamily="34" charset="-122"/>
                <a:cs typeface="Arial" pitchFamily="34" charset="-120"/>
              </a:rPr>
              <a:t>Export worker</a:t>
            </a:r>
            <a:endParaRPr lang="en-US" sz="1000" dirty="0"/>
          </a:p>
          <a:p>
            <a:pPr algn="ctr" indent="0" marL="0">
              <a:buNone/>
            </a:pPr>
            <a:r>
              <a:rPr lang="en-US" sz="1000" dirty="0">
                <a:solidFill>
                  <a:srgbClr val="1C1E23"/>
                </a:solidFill>
                <a:latin typeface="Arial" pitchFamily="34" charset="0"/>
                <a:ea typeface="Arial" pitchFamily="34" charset="-122"/>
                <a:cs typeface="Arial" pitchFamily="34" charset="-120"/>
              </a:rPr>
              <a:t>dump blocks</a:t>
            </a:r>
            <a:endParaRPr lang="en-US" sz="1000" dirty="0"/>
          </a:p>
        </p:txBody>
      </p:sp>
      <p:sp>
        <p:nvSpPr>
          <p:cNvPr id="17" name="Shape 15"/>
          <p:cNvSpPr/>
          <p:nvPr/>
        </p:nvSpPr>
        <p:spPr>
          <a:xfrm>
            <a:off x="4892040" y="3429000"/>
            <a:ext cx="1554480" cy="777240"/>
          </a:xfrm>
          <a:prstGeom prst="roundRect">
            <a:avLst>
              <a:gd name="adj" fmla="val 8235"/>
            </a:avLst>
          </a:prstGeom>
          <a:solidFill>
            <a:srgbClr val="FFFFFF"/>
          </a:solidFill>
          <a:ln w="12700">
            <a:solidFill>
              <a:srgbClr val="153385"/>
            </a:solidFill>
            <a:prstDash val="solid"/>
          </a:ln>
          <a:effectLst>
            <a:outerShdw sx="100000" sy="100000" kx="0" ky="0" algn="bl" rotWithShape="0" blurRad="76200" dist="25400" dir="5400000">
              <a:srgbClr val="AAB4C4">
                <a:alpha val="35000"/>
              </a:srgbClr>
            </a:outerShdw>
          </a:effectLst>
        </p:spPr>
      </p:sp>
      <p:sp>
        <p:nvSpPr>
          <p:cNvPr id="18" name="Text 16"/>
          <p:cNvSpPr txBox="1"/>
          <p:nvPr/>
        </p:nvSpPr>
        <p:spPr>
          <a:xfrm>
            <a:off x="4892040" y="3429000"/>
            <a:ext cx="1554480" cy="777240"/>
          </a:xfrm>
          <a:prstGeom prst="rect">
            <a:avLst/>
          </a:prstGeom>
          <a:noFill/>
          <a:ln/>
        </p:spPr>
        <p:txBody>
          <a:bodyPr wrap="square" lIns="508" tIns="508" rIns="508" bIns="508" rtlCol="0" anchor="ctr"/>
          <a:lstStyle/>
          <a:p>
            <a:pPr algn="ctr" indent="0" marL="0">
              <a:buNone/>
            </a:pPr>
            <a:r>
              <a:rPr lang="en-US" sz="1000" dirty="0">
                <a:solidFill>
                  <a:srgbClr val="1C1E23"/>
                </a:solidFill>
                <a:latin typeface="Arial" pitchFamily="34" charset="0"/>
                <a:ea typeface="Arial" pitchFamily="34" charset="-122"/>
                <a:cs typeface="Arial" pitchFamily="34" charset="-120"/>
              </a:rPr>
              <a:t>Transform</a:t>
            </a:r>
            <a:endParaRPr lang="en-US" sz="1000" dirty="0"/>
          </a:p>
          <a:p>
            <a:pPr algn="ctr" indent="0" marL="0">
              <a:buNone/>
            </a:pPr>
            <a:r>
              <a:rPr lang="en-US" sz="1000" dirty="0">
                <a:solidFill>
                  <a:srgbClr val="1C1E23"/>
                </a:solidFill>
                <a:latin typeface="Arial" pitchFamily="34" charset="0"/>
                <a:ea typeface="Arial" pitchFamily="34" charset="-122"/>
                <a:cs typeface="Arial" pitchFamily="34" charset="-120"/>
              </a:rPr>
              <a:t>labels → dimensions</a:t>
            </a:r>
            <a:endParaRPr lang="en-US" sz="1000" dirty="0"/>
          </a:p>
        </p:txBody>
      </p:sp>
      <p:sp>
        <p:nvSpPr>
          <p:cNvPr id="19" name="Shape 17"/>
          <p:cNvSpPr/>
          <p:nvPr/>
        </p:nvSpPr>
        <p:spPr>
          <a:xfrm>
            <a:off x="6903720" y="3429000"/>
            <a:ext cx="1554480" cy="777240"/>
          </a:xfrm>
          <a:prstGeom prst="roundRect">
            <a:avLst>
              <a:gd name="adj" fmla="val 8235"/>
            </a:avLst>
          </a:prstGeom>
          <a:solidFill>
            <a:srgbClr val="FFFFFF"/>
          </a:solidFill>
          <a:ln w="12700">
            <a:solidFill>
              <a:srgbClr val="153385"/>
            </a:solidFill>
            <a:prstDash val="solid"/>
          </a:ln>
          <a:effectLst>
            <a:outerShdw sx="100000" sy="100000" kx="0" ky="0" algn="bl" rotWithShape="0" blurRad="76200" dist="25400" dir="5400000">
              <a:srgbClr val="AAB4C4">
                <a:alpha val="35000"/>
              </a:srgbClr>
            </a:outerShdw>
          </a:effectLst>
        </p:spPr>
      </p:sp>
      <p:sp>
        <p:nvSpPr>
          <p:cNvPr id="20" name="Text 18"/>
          <p:cNvSpPr txBox="1"/>
          <p:nvPr/>
        </p:nvSpPr>
        <p:spPr>
          <a:xfrm>
            <a:off x="6903720" y="3429000"/>
            <a:ext cx="1554480" cy="777240"/>
          </a:xfrm>
          <a:prstGeom prst="rect">
            <a:avLst/>
          </a:prstGeom>
          <a:noFill/>
          <a:ln/>
        </p:spPr>
        <p:txBody>
          <a:bodyPr wrap="square" lIns="508" tIns="508" rIns="508" bIns="508" rtlCol="0" anchor="ctr"/>
          <a:lstStyle/>
          <a:p>
            <a:pPr algn="ctr" indent="0" marL="0">
              <a:buNone/>
            </a:pPr>
            <a:r>
              <a:rPr lang="en-US" sz="1000" dirty="0">
                <a:solidFill>
                  <a:srgbClr val="1C1E23"/>
                </a:solidFill>
                <a:latin typeface="Arial" pitchFamily="34" charset="0"/>
                <a:ea typeface="Arial" pitchFamily="34" charset="-122"/>
                <a:cs typeface="Arial" pitchFamily="34" charset="-120"/>
              </a:rPr>
              <a:t>Bulk load</a:t>
            </a:r>
            <a:endParaRPr lang="en-US" sz="1000" dirty="0"/>
          </a:p>
          <a:p>
            <a:pPr algn="ctr" indent="0" marL="0">
              <a:buNone/>
            </a:pPr>
            <a:r>
              <a:rPr lang="en-US" sz="1000" dirty="0">
                <a:solidFill>
                  <a:srgbClr val="1C1E23"/>
                </a:solidFill>
                <a:latin typeface="Arial" pitchFamily="34" charset="0"/>
                <a:ea typeface="Arial" pitchFamily="34" charset="-122"/>
                <a:cs typeface="Arial" pitchFamily="34" charset="-120"/>
              </a:rPr>
              <a:t>idempotent</a:t>
            </a:r>
            <a:endParaRPr lang="en-US" sz="1000" dirty="0"/>
          </a:p>
        </p:txBody>
      </p:sp>
      <p:sp>
        <p:nvSpPr>
          <p:cNvPr id="21" name="Shape 19"/>
          <p:cNvSpPr/>
          <p:nvPr/>
        </p:nvSpPr>
        <p:spPr>
          <a:xfrm>
            <a:off x="2377440" y="3813048"/>
            <a:ext cx="502920" cy="0"/>
          </a:xfrm>
          <a:prstGeom prst="line">
            <a:avLst/>
          </a:prstGeom>
          <a:noFill/>
          <a:ln w="25400">
            <a:solidFill>
              <a:srgbClr val="153385"/>
            </a:solidFill>
            <a:prstDash val="solid"/>
            <a:tailEnd type="triangle"/>
          </a:ln>
        </p:spPr>
      </p:sp>
      <p:sp>
        <p:nvSpPr>
          <p:cNvPr id="22" name="Shape 20"/>
          <p:cNvSpPr/>
          <p:nvPr/>
        </p:nvSpPr>
        <p:spPr>
          <a:xfrm>
            <a:off x="4434840" y="3813048"/>
            <a:ext cx="457200" cy="0"/>
          </a:xfrm>
          <a:prstGeom prst="line">
            <a:avLst/>
          </a:prstGeom>
          <a:noFill/>
          <a:ln w="25400">
            <a:solidFill>
              <a:srgbClr val="153385"/>
            </a:solidFill>
            <a:prstDash val="solid"/>
            <a:tailEnd type="triangle"/>
          </a:ln>
        </p:spPr>
      </p:sp>
      <p:sp>
        <p:nvSpPr>
          <p:cNvPr id="23" name="Shape 21"/>
          <p:cNvSpPr/>
          <p:nvPr/>
        </p:nvSpPr>
        <p:spPr>
          <a:xfrm>
            <a:off x="6446520" y="3813048"/>
            <a:ext cx="457200" cy="0"/>
          </a:xfrm>
          <a:prstGeom prst="line">
            <a:avLst/>
          </a:prstGeom>
          <a:noFill/>
          <a:ln w="25400">
            <a:solidFill>
              <a:srgbClr val="153385"/>
            </a:solidFill>
            <a:prstDash val="solid"/>
            <a:tailEnd type="triangle"/>
          </a:ln>
        </p:spPr>
      </p:sp>
      <p:sp>
        <p:nvSpPr>
          <p:cNvPr id="24" name="Shape 22"/>
          <p:cNvSpPr/>
          <p:nvPr/>
        </p:nvSpPr>
        <p:spPr>
          <a:xfrm>
            <a:off x="7680960" y="2468880"/>
            <a:ext cx="0" cy="914400"/>
          </a:xfrm>
          <a:prstGeom prst="line">
            <a:avLst/>
          </a:prstGeom>
          <a:noFill/>
          <a:ln w="31750">
            <a:solidFill>
              <a:srgbClr val="0B64DD"/>
            </a:solidFill>
            <a:prstDash val="solid"/>
            <a:headEnd type="triangle"/>
          </a:ln>
        </p:spPr>
      </p:sp>
      <p:sp>
        <p:nvSpPr>
          <p:cNvPr id="25" name="Text 23"/>
          <p:cNvSpPr txBox="1"/>
          <p:nvPr/>
        </p:nvSpPr>
        <p:spPr>
          <a:xfrm>
            <a:off x="548640" y="4343400"/>
            <a:ext cx="7863840" cy="274320"/>
          </a:xfrm>
          <a:prstGeom prst="rect">
            <a:avLst/>
          </a:prstGeom>
          <a:noFill/>
          <a:ln/>
        </p:spPr>
        <p:txBody>
          <a:bodyPr wrap="square" lIns="0" tIns="0" rIns="0" bIns="0" rtlCol="0" anchor="ctr"/>
          <a:lstStyle/>
          <a:p>
            <a:pPr algn="l" indent="0" marL="0">
              <a:buNone/>
            </a:pPr>
            <a:r>
              <a:rPr lang="en-US" sz="1000" i="1" dirty="0">
                <a:solidFill>
                  <a:srgbClr val="153385"/>
                </a:solidFill>
                <a:latin typeface="Arial" pitchFamily="34" charset="0"/>
                <a:ea typeface="Arial" pitchFamily="34" charset="-122"/>
                <a:cs typeface="Arial" pitchFamily="34" charset="-120"/>
              </a:rPr>
              <a:t>Elasticsearch 9.5 creates the historical indices automatically as year-old samples arrive — no manual index management</a:t>
            </a:r>
            <a:endParaRPr lang="en-US" sz="1000" dirty="0"/>
          </a:p>
        </p:txBody>
      </p:sp>
      <p:sp>
        <p:nvSpPr>
          <p:cNvPr id="26" name="Shape 24"/>
          <p:cNvSpPr/>
          <p:nvPr/>
        </p:nvSpPr>
        <p:spPr>
          <a:xfrm>
            <a:off x="548640" y="4892040"/>
            <a:ext cx="4114800" cy="502920"/>
          </a:xfrm>
          <a:prstGeom prst="roundRect">
            <a:avLst>
              <a:gd name="adj" fmla="val 16364"/>
            </a:avLst>
          </a:prstGeom>
          <a:solidFill>
            <a:srgbClr val="FFFFFF"/>
          </a:solidFill>
          <a:ln w="15875">
            <a:solidFill>
              <a:srgbClr val="F04E98"/>
            </a:solidFill>
            <a:prstDash val="solid"/>
          </a:ln>
        </p:spPr>
      </p:sp>
      <p:sp>
        <p:nvSpPr>
          <p:cNvPr id="27" name="Text 25"/>
          <p:cNvSpPr txBox="1"/>
          <p:nvPr/>
        </p:nvSpPr>
        <p:spPr>
          <a:xfrm>
            <a:off x="685800" y="4892040"/>
            <a:ext cx="3931920" cy="502920"/>
          </a:xfrm>
          <a:prstGeom prst="rect">
            <a:avLst/>
          </a:prstGeom>
          <a:noFill/>
          <a:ln/>
        </p:spPr>
        <p:txBody>
          <a:bodyPr wrap="square" lIns="0" tIns="0" rIns="0" bIns="0" rtlCol="0" anchor="ctr"/>
          <a:lstStyle/>
          <a:p>
            <a:pPr indent="0" marL="0">
              <a:buNone/>
            </a:pPr>
            <a:r>
              <a:rPr lang="en-US" sz="1000" b="1" dirty="0">
                <a:solidFill>
                  <a:srgbClr val="F04E98"/>
                </a:solidFill>
                <a:latin typeface="Arial" pitchFamily="34" charset="0"/>
                <a:ea typeface="Arial" pitchFamily="34" charset="-122"/>
                <a:cs typeface="Arial" pitchFamily="34" charset="-120"/>
              </a:rPr>
              <a:t>Thanos compactor stopped — bucket is immutable during export</a:t>
            </a:r>
            <a:endParaRPr lang="en-US" sz="1000" dirty="0"/>
          </a:p>
        </p:txBody>
      </p:sp>
      <p:sp>
        <p:nvSpPr>
          <p:cNvPr id="28" name="Text 26"/>
          <p:cNvSpPr txBox="1"/>
          <p:nvPr/>
        </p:nvSpPr>
        <p:spPr>
          <a:xfrm>
            <a:off x="548640" y="5577840"/>
            <a:ext cx="7680960" cy="274320"/>
          </a:xfrm>
          <a:prstGeom prst="rect">
            <a:avLst/>
          </a:prstGeom>
          <a:noFill/>
          <a:ln/>
        </p:spPr>
        <p:txBody>
          <a:bodyPr wrap="square" lIns="0" tIns="0" rIns="0" bIns="0" rtlCol="0" anchor="ctr"/>
          <a:lstStyle/>
          <a:p>
            <a:pPr algn="l" indent="0" marL="0">
              <a:buNone/>
            </a:pPr>
            <a:r>
              <a:rPr lang="en-US" sz="1050" dirty="0">
                <a:solidFill>
                  <a:srgbClr val="3A4354"/>
                </a:solidFill>
                <a:latin typeface="Arial" pitchFamily="34" charset="0"/>
                <a:ea typeface="Arial" pitchFamily="34" charset="-122"/>
                <a:cs typeface="Arial" pitchFamily="34" charset="-120"/>
              </a:rPr>
              <a:t>Every load is safely re-runnable: a crashed job is resumed by running it again — duplicates are detected, never doubled.</a:t>
            </a:r>
            <a:endParaRPr lang="en-US" sz="1050" dirty="0"/>
          </a:p>
        </p:txBody>
      </p:sp>
      <p:sp>
        <p:nvSpPr>
          <p:cNvPr id="29" name="Shape 27"/>
          <p:cNvSpPr/>
          <p:nvPr/>
        </p:nvSpPr>
        <p:spPr>
          <a:xfrm>
            <a:off x="8549640" y="1554480"/>
            <a:ext cx="3108960" cy="1325880"/>
          </a:xfrm>
          <a:prstGeom prst="roundRect">
            <a:avLst>
              <a:gd name="adj" fmla="val 6207"/>
            </a:avLst>
          </a:prstGeom>
          <a:solidFill>
            <a:srgbClr val="F5F7FA"/>
          </a:solidFill>
          <a:ln w="9525">
            <a:solidFill>
              <a:srgbClr val="DCE2EA"/>
            </a:solidFill>
            <a:prstDash val="solid"/>
          </a:ln>
        </p:spPr>
      </p:sp>
      <p:sp>
        <p:nvSpPr>
          <p:cNvPr id="30" name="Shape 28"/>
          <p:cNvSpPr/>
          <p:nvPr/>
        </p:nvSpPr>
        <p:spPr>
          <a:xfrm>
            <a:off x="8750808" y="1755648"/>
            <a:ext cx="310896" cy="310896"/>
          </a:xfrm>
          <a:prstGeom prst="ellipse">
            <a:avLst/>
          </a:prstGeom>
          <a:solidFill>
            <a:srgbClr val="48EFCF"/>
          </a:solidFill>
          <a:ln/>
        </p:spPr>
      </p:sp>
      <p:sp>
        <p:nvSpPr>
          <p:cNvPr id="31" name="Text 29"/>
          <p:cNvSpPr txBox="1"/>
          <p:nvPr/>
        </p:nvSpPr>
        <p:spPr>
          <a:xfrm>
            <a:off x="8750808" y="1755648"/>
            <a:ext cx="310896" cy="310896"/>
          </a:xfrm>
          <a:prstGeom prst="rect">
            <a:avLst/>
          </a:prstGeom>
          <a:noFill/>
          <a:ln/>
        </p:spPr>
        <p:txBody>
          <a:bodyPr wrap="square" lIns="0" tIns="0" rIns="0" bIns="0" rtlCol="0" anchor="ctr"/>
          <a:lstStyle/>
          <a:p>
            <a:pPr algn="ctr" indent="0" marL="0">
              <a:buNone/>
            </a:pPr>
            <a:r>
              <a:rPr lang="en-US" sz="1300" b="1" dirty="0">
                <a:solidFill>
                  <a:srgbClr val="101C3F"/>
                </a:solidFill>
                <a:latin typeface="Arial" pitchFamily="34" charset="0"/>
                <a:ea typeface="Arial" pitchFamily="34" charset="-122"/>
                <a:cs typeface="Arial" pitchFamily="34" charset="-120"/>
              </a:rPr>
              <a:t>✓</a:t>
            </a:r>
            <a:endParaRPr lang="en-US" sz="1300" dirty="0"/>
          </a:p>
        </p:txBody>
      </p:sp>
      <p:sp>
        <p:nvSpPr>
          <p:cNvPr id="32" name="Text 30"/>
          <p:cNvSpPr txBox="1"/>
          <p:nvPr/>
        </p:nvSpPr>
        <p:spPr>
          <a:xfrm>
            <a:off x="9171432" y="1700784"/>
            <a:ext cx="2331720" cy="411480"/>
          </a:xfrm>
          <a:prstGeom prst="rect">
            <a:avLst/>
          </a:prstGeom>
          <a:noFill/>
          <a:ln/>
        </p:spPr>
        <p:txBody>
          <a:bodyPr wrap="square" lIns="0" tIns="0" rIns="0" bIns="0" rtlCol="0" anchor="ctr"/>
          <a:lstStyle/>
          <a:p>
            <a:pPr indent="0" marL="0">
              <a:buNone/>
            </a:pPr>
            <a:r>
              <a:rPr lang="en-US" sz="1300" b="1" dirty="0">
                <a:solidFill>
                  <a:srgbClr val="1C1E23"/>
                </a:solidFill>
                <a:latin typeface="Arial" pitchFamily="34" charset="0"/>
                <a:ea typeface="Arial" pitchFamily="34" charset="-122"/>
                <a:cs typeface="Arial" pitchFamily="34" charset="-120"/>
              </a:rPr>
              <a:t>Query parity, proven</a:t>
            </a:r>
            <a:endParaRPr lang="en-US" sz="1300" dirty="0"/>
          </a:p>
        </p:txBody>
      </p:sp>
      <p:sp>
        <p:nvSpPr>
          <p:cNvPr id="33" name="Text 31"/>
          <p:cNvSpPr txBox="1"/>
          <p:nvPr/>
        </p:nvSpPr>
        <p:spPr>
          <a:xfrm>
            <a:off x="9171432" y="2084832"/>
            <a:ext cx="2331720" cy="667512"/>
          </a:xfrm>
          <a:prstGeom prst="rect">
            <a:avLst/>
          </a:prstGeom>
          <a:noFill/>
          <a:ln/>
        </p:spPr>
        <p:txBody>
          <a:bodyPr wrap="square" lIns="0" tIns="0" rIns="0" bIns="0" rtlCol="0" anchor="t"/>
          <a:lstStyle/>
          <a:p>
            <a:pPr indent="0" marL="0">
              <a:buNone/>
            </a:pPr>
            <a:r>
              <a:rPr lang="en-US" sz="1100" dirty="0">
                <a:solidFill>
                  <a:srgbClr val="3A4354"/>
                </a:solidFill>
                <a:latin typeface="Arial" pitchFamily="34" charset="0"/>
                <a:ea typeface="Arial" pitchFamily="34" charset="-122"/>
                <a:cs typeface="Arial" pitchFamily="34" charset="-120"/>
              </a:rPr>
              <a:t>Identical PromQL on Thanos and Elastic: gauges match exactly, rate() within 0.25%.</a:t>
            </a:r>
            <a:endParaRPr lang="en-US" sz="1100" dirty="0"/>
          </a:p>
        </p:txBody>
      </p:sp>
      <p:sp>
        <p:nvSpPr>
          <p:cNvPr id="34" name="Shape 32"/>
          <p:cNvSpPr/>
          <p:nvPr/>
        </p:nvSpPr>
        <p:spPr>
          <a:xfrm>
            <a:off x="8549640" y="3017520"/>
            <a:ext cx="3108960" cy="1325880"/>
          </a:xfrm>
          <a:prstGeom prst="roundRect">
            <a:avLst>
              <a:gd name="adj" fmla="val 6207"/>
            </a:avLst>
          </a:prstGeom>
          <a:solidFill>
            <a:srgbClr val="F5F7FA"/>
          </a:solidFill>
          <a:ln w="9525">
            <a:solidFill>
              <a:srgbClr val="DCE2EA"/>
            </a:solidFill>
            <a:prstDash val="solid"/>
          </a:ln>
        </p:spPr>
      </p:sp>
      <p:sp>
        <p:nvSpPr>
          <p:cNvPr id="35" name="Shape 33"/>
          <p:cNvSpPr/>
          <p:nvPr/>
        </p:nvSpPr>
        <p:spPr>
          <a:xfrm>
            <a:off x="8750808" y="3218688"/>
            <a:ext cx="310896" cy="310896"/>
          </a:xfrm>
          <a:prstGeom prst="ellipse">
            <a:avLst/>
          </a:prstGeom>
          <a:solidFill>
            <a:srgbClr val="48EFCF"/>
          </a:solidFill>
          <a:ln/>
        </p:spPr>
      </p:sp>
      <p:sp>
        <p:nvSpPr>
          <p:cNvPr id="36" name="Text 34"/>
          <p:cNvSpPr txBox="1"/>
          <p:nvPr/>
        </p:nvSpPr>
        <p:spPr>
          <a:xfrm>
            <a:off x="8750808" y="3218688"/>
            <a:ext cx="310896" cy="310896"/>
          </a:xfrm>
          <a:prstGeom prst="rect">
            <a:avLst/>
          </a:prstGeom>
          <a:noFill/>
          <a:ln/>
        </p:spPr>
        <p:txBody>
          <a:bodyPr wrap="square" lIns="0" tIns="0" rIns="0" bIns="0" rtlCol="0" anchor="ctr"/>
          <a:lstStyle/>
          <a:p>
            <a:pPr algn="ctr" indent="0" marL="0">
              <a:buNone/>
            </a:pPr>
            <a:r>
              <a:rPr lang="en-US" sz="1300" b="1" dirty="0">
                <a:solidFill>
                  <a:srgbClr val="101C3F"/>
                </a:solidFill>
                <a:latin typeface="Arial" pitchFamily="34" charset="0"/>
                <a:ea typeface="Arial" pitchFamily="34" charset="-122"/>
                <a:cs typeface="Arial" pitchFamily="34" charset="-120"/>
              </a:rPr>
              <a:t>✓</a:t>
            </a:r>
            <a:endParaRPr lang="en-US" sz="1300" dirty="0"/>
          </a:p>
        </p:txBody>
      </p:sp>
      <p:sp>
        <p:nvSpPr>
          <p:cNvPr id="37" name="Text 35"/>
          <p:cNvSpPr txBox="1"/>
          <p:nvPr/>
        </p:nvSpPr>
        <p:spPr>
          <a:xfrm>
            <a:off x="9171432" y="3163824"/>
            <a:ext cx="2331720" cy="411480"/>
          </a:xfrm>
          <a:prstGeom prst="rect">
            <a:avLst/>
          </a:prstGeom>
          <a:noFill/>
          <a:ln/>
        </p:spPr>
        <p:txBody>
          <a:bodyPr wrap="square" lIns="0" tIns="0" rIns="0" bIns="0" rtlCol="0" anchor="ctr"/>
          <a:lstStyle/>
          <a:p>
            <a:pPr indent="0" marL="0">
              <a:buNone/>
            </a:pPr>
            <a:r>
              <a:rPr lang="en-US" sz="1300" b="1" dirty="0">
                <a:solidFill>
                  <a:srgbClr val="1C1E23"/>
                </a:solidFill>
                <a:latin typeface="Arial" pitchFamily="34" charset="0"/>
                <a:ea typeface="Arial" pitchFamily="34" charset="-122"/>
                <a:cs typeface="Arial" pitchFamily="34" charset="-120"/>
              </a:rPr>
              <a:t>Predictable duration</a:t>
            </a:r>
            <a:endParaRPr lang="en-US" sz="1300" dirty="0"/>
          </a:p>
        </p:txBody>
      </p:sp>
      <p:sp>
        <p:nvSpPr>
          <p:cNvPr id="38" name="Text 36"/>
          <p:cNvSpPr txBox="1"/>
          <p:nvPr/>
        </p:nvSpPr>
        <p:spPr>
          <a:xfrm>
            <a:off x="9171432" y="3547872"/>
            <a:ext cx="2331720" cy="667512"/>
          </a:xfrm>
          <a:prstGeom prst="rect">
            <a:avLst/>
          </a:prstGeom>
          <a:noFill/>
          <a:ln/>
        </p:spPr>
        <p:txBody>
          <a:bodyPr wrap="square" lIns="0" tIns="0" rIns="0" bIns="0" rtlCol="0" anchor="t"/>
          <a:lstStyle/>
          <a:p>
            <a:pPr indent="0" marL="0">
              <a:buNone/>
            </a:pPr>
            <a:r>
              <a:rPr lang="en-US" sz="1100" dirty="0">
                <a:solidFill>
                  <a:srgbClr val="3A4354"/>
                </a:solidFill>
                <a:latin typeface="Arial" pitchFamily="34" charset="0"/>
                <a:ea typeface="Arial" pitchFamily="34" charset="-122"/>
                <a:cs typeface="Arial" pitchFamily="34" charset="-120"/>
              </a:rPr>
              <a:t>A typical 12-month estate (~20B samples) migrates in about a day and a half.</a:t>
            </a:r>
            <a:endParaRPr lang="en-US" sz="1100" dirty="0"/>
          </a:p>
        </p:txBody>
      </p:sp>
      <p:sp>
        <p:nvSpPr>
          <p:cNvPr id="39" name="Shape 37"/>
          <p:cNvSpPr/>
          <p:nvPr/>
        </p:nvSpPr>
        <p:spPr>
          <a:xfrm>
            <a:off x="8549640" y="4480560"/>
            <a:ext cx="3108960" cy="1325880"/>
          </a:xfrm>
          <a:prstGeom prst="roundRect">
            <a:avLst>
              <a:gd name="adj" fmla="val 6207"/>
            </a:avLst>
          </a:prstGeom>
          <a:solidFill>
            <a:srgbClr val="F5F7FA"/>
          </a:solidFill>
          <a:ln w="9525">
            <a:solidFill>
              <a:srgbClr val="DCE2EA"/>
            </a:solidFill>
            <a:prstDash val="solid"/>
          </a:ln>
        </p:spPr>
      </p:sp>
      <p:sp>
        <p:nvSpPr>
          <p:cNvPr id="40" name="Shape 38"/>
          <p:cNvSpPr/>
          <p:nvPr/>
        </p:nvSpPr>
        <p:spPr>
          <a:xfrm>
            <a:off x="8750808" y="4681728"/>
            <a:ext cx="310896" cy="310896"/>
          </a:xfrm>
          <a:prstGeom prst="ellipse">
            <a:avLst/>
          </a:prstGeom>
          <a:solidFill>
            <a:srgbClr val="48EFCF"/>
          </a:solidFill>
          <a:ln/>
        </p:spPr>
      </p:sp>
      <p:sp>
        <p:nvSpPr>
          <p:cNvPr id="41" name="Text 39"/>
          <p:cNvSpPr txBox="1"/>
          <p:nvPr/>
        </p:nvSpPr>
        <p:spPr>
          <a:xfrm>
            <a:off x="8750808" y="4681728"/>
            <a:ext cx="310896" cy="310896"/>
          </a:xfrm>
          <a:prstGeom prst="rect">
            <a:avLst/>
          </a:prstGeom>
          <a:noFill/>
          <a:ln/>
        </p:spPr>
        <p:txBody>
          <a:bodyPr wrap="square" lIns="0" tIns="0" rIns="0" bIns="0" rtlCol="0" anchor="ctr"/>
          <a:lstStyle/>
          <a:p>
            <a:pPr algn="ctr" indent="0" marL="0">
              <a:buNone/>
            </a:pPr>
            <a:r>
              <a:rPr lang="en-US" sz="1300" b="1" dirty="0">
                <a:solidFill>
                  <a:srgbClr val="101C3F"/>
                </a:solidFill>
                <a:latin typeface="Arial" pitchFamily="34" charset="0"/>
                <a:ea typeface="Arial" pitchFamily="34" charset="-122"/>
                <a:cs typeface="Arial" pitchFamily="34" charset="-120"/>
              </a:rPr>
              <a:t>✓</a:t>
            </a:r>
            <a:endParaRPr lang="en-US" sz="1300" dirty="0"/>
          </a:p>
        </p:txBody>
      </p:sp>
      <p:sp>
        <p:nvSpPr>
          <p:cNvPr id="42" name="Text 40"/>
          <p:cNvSpPr txBox="1"/>
          <p:nvPr/>
        </p:nvSpPr>
        <p:spPr>
          <a:xfrm>
            <a:off x="9171432" y="4626864"/>
            <a:ext cx="2331720" cy="411480"/>
          </a:xfrm>
          <a:prstGeom prst="rect">
            <a:avLst/>
          </a:prstGeom>
          <a:noFill/>
          <a:ln/>
        </p:spPr>
        <p:txBody>
          <a:bodyPr wrap="square" lIns="0" tIns="0" rIns="0" bIns="0" rtlCol="0" anchor="ctr"/>
          <a:lstStyle/>
          <a:p>
            <a:pPr indent="0" marL="0">
              <a:buNone/>
            </a:pPr>
            <a:r>
              <a:rPr lang="en-US" sz="1300" b="1" dirty="0">
                <a:solidFill>
                  <a:srgbClr val="1C1E23"/>
                </a:solidFill>
                <a:latin typeface="Arial" pitchFamily="34" charset="0"/>
                <a:ea typeface="Arial" pitchFamily="34" charset="-122"/>
                <a:cs typeface="Arial" pitchFamily="34" charset="-120"/>
              </a:rPr>
              <a:t>Zero-risk rollback</a:t>
            </a:r>
            <a:endParaRPr lang="en-US" sz="1300" dirty="0"/>
          </a:p>
        </p:txBody>
      </p:sp>
      <p:sp>
        <p:nvSpPr>
          <p:cNvPr id="43" name="Text 41"/>
          <p:cNvSpPr txBox="1"/>
          <p:nvPr/>
        </p:nvSpPr>
        <p:spPr>
          <a:xfrm>
            <a:off x="9171432" y="5010912"/>
            <a:ext cx="2331720" cy="667512"/>
          </a:xfrm>
          <a:prstGeom prst="rect">
            <a:avLst/>
          </a:prstGeom>
          <a:noFill/>
          <a:ln/>
        </p:spPr>
        <p:txBody>
          <a:bodyPr wrap="square" lIns="0" tIns="0" rIns="0" bIns="0" rtlCol="0" anchor="t"/>
          <a:lstStyle/>
          <a:p>
            <a:pPr indent="0" marL="0">
              <a:buNone/>
            </a:pPr>
            <a:r>
              <a:rPr lang="en-US" sz="1100" dirty="0">
                <a:solidFill>
                  <a:srgbClr val="3A4354"/>
                </a:solidFill>
                <a:latin typeface="Arial" pitchFamily="34" charset="0"/>
                <a:ea typeface="Arial" pitchFamily="34" charset="-122"/>
                <a:cs typeface="Arial" pitchFamily="34" charset="-120"/>
              </a:rPr>
              <a:t>The bucket is never modified — Grafana can point back at Thanos at any moment.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292608"/>
          </a:xfrm>
          <a:prstGeom prst="rect">
            <a:avLst/>
          </a:prstGeom>
          <a:noFill/>
          <a:ln/>
        </p:spPr>
        <p:txBody>
          <a:bodyPr wrap="square" lIns="0" tIns="0" rIns="0" bIns="0" rtlCol="0" anchor="ctr"/>
          <a:lstStyle/>
          <a:p>
            <a:pPr indent="0" marL="0">
              <a:buNone/>
            </a:pPr>
            <a:r>
              <a:rPr lang="en-US" sz="1300" b="1" spc="200" kern="0" dirty="0">
                <a:solidFill>
                  <a:srgbClr val="0B64DD"/>
                </a:solidFill>
                <a:latin typeface="Arial" pitchFamily="34" charset="0"/>
                <a:ea typeface="Arial" pitchFamily="34" charset="-122"/>
                <a:cs typeface="Arial" pitchFamily="34" charset="-120"/>
              </a:rPr>
              <a:t>AFTER</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C1E23"/>
                </a:solidFill>
                <a:latin typeface="Arial" pitchFamily="34" charset="0"/>
                <a:ea typeface="Arial" pitchFamily="34" charset="-122"/>
                <a:cs typeface="Arial" pitchFamily="34" charset="-120"/>
              </a:rPr>
              <a:t>One platform, 12 months of unified history</a:t>
            </a:r>
            <a:endParaRPr lang="en-US" sz="3200" dirty="0"/>
          </a:p>
        </p:txBody>
      </p:sp>
      <p:sp>
        <p:nvSpPr>
          <p:cNvPr id="4" name="Shape 2"/>
          <p:cNvSpPr/>
          <p:nvPr/>
        </p:nvSpPr>
        <p:spPr>
          <a:xfrm>
            <a:off x="1188720" y="1600200"/>
            <a:ext cx="2103120" cy="502920"/>
          </a:xfrm>
          <a:prstGeom prst="roundRect">
            <a:avLst>
              <a:gd name="adj" fmla="val 12727"/>
            </a:avLst>
          </a:prstGeom>
          <a:solidFill>
            <a:srgbClr val="DCE2EA"/>
          </a:solidFill>
          <a:ln w="12700">
            <a:solidFill>
              <a:srgbClr val="153385"/>
            </a:solidFill>
            <a:prstDash val="solid"/>
          </a:ln>
          <a:effectLst>
            <a:outerShdw sx="100000" sy="100000" kx="0" ky="0" algn="bl" rotWithShape="0" blurRad="76200" dist="25400" dir="5400000">
              <a:srgbClr val="AAB4C4">
                <a:alpha val="35000"/>
              </a:srgbClr>
            </a:outerShdw>
          </a:effectLst>
        </p:spPr>
      </p:sp>
      <p:sp>
        <p:nvSpPr>
          <p:cNvPr id="5" name="Text 3"/>
          <p:cNvSpPr txBox="1"/>
          <p:nvPr/>
        </p:nvSpPr>
        <p:spPr>
          <a:xfrm>
            <a:off x="1188720" y="1600200"/>
            <a:ext cx="2103120" cy="502920"/>
          </a:xfrm>
          <a:prstGeom prst="rect">
            <a:avLst/>
          </a:prstGeom>
          <a:noFill/>
          <a:ln/>
        </p:spPr>
        <p:txBody>
          <a:bodyPr wrap="square" lIns="508" tIns="508" rIns="508" bIns="508" rtlCol="0" anchor="ctr"/>
          <a:lstStyle/>
          <a:p>
            <a:pPr algn="ctr" indent="0" marL="0">
              <a:buNone/>
            </a:pPr>
            <a:r>
              <a:rPr lang="en-US" sz="1100" b="1" dirty="0">
                <a:solidFill>
                  <a:srgbClr val="1C1E23"/>
                </a:solidFill>
                <a:latin typeface="Arial" pitchFamily="34" charset="0"/>
                <a:ea typeface="Arial" pitchFamily="34" charset="-122"/>
                <a:cs typeface="Arial" pitchFamily="34" charset="-120"/>
              </a:rPr>
              <a:t>Grafana (PromQL)</a:t>
            </a:r>
            <a:endParaRPr lang="en-US" sz="1100" dirty="0"/>
          </a:p>
        </p:txBody>
      </p:sp>
      <p:sp>
        <p:nvSpPr>
          <p:cNvPr id="6" name="Shape 4"/>
          <p:cNvSpPr/>
          <p:nvPr/>
        </p:nvSpPr>
        <p:spPr>
          <a:xfrm>
            <a:off x="3566160" y="1600200"/>
            <a:ext cx="2103120" cy="502920"/>
          </a:xfrm>
          <a:prstGeom prst="roundRect">
            <a:avLst>
              <a:gd name="adj" fmla="val 12727"/>
            </a:avLst>
          </a:prstGeom>
          <a:solidFill>
            <a:srgbClr val="DCE2EA"/>
          </a:solidFill>
          <a:ln w="12700">
            <a:solidFill>
              <a:srgbClr val="153385"/>
            </a:solidFill>
            <a:prstDash val="solid"/>
          </a:ln>
          <a:effectLst>
            <a:outerShdw sx="100000" sy="100000" kx="0" ky="0" algn="bl" rotWithShape="0" blurRad="76200" dist="25400" dir="5400000">
              <a:srgbClr val="AAB4C4">
                <a:alpha val="35000"/>
              </a:srgbClr>
            </a:outerShdw>
          </a:effectLst>
        </p:spPr>
      </p:sp>
      <p:sp>
        <p:nvSpPr>
          <p:cNvPr id="7" name="Text 5"/>
          <p:cNvSpPr txBox="1"/>
          <p:nvPr/>
        </p:nvSpPr>
        <p:spPr>
          <a:xfrm>
            <a:off x="3566160" y="1600200"/>
            <a:ext cx="2103120" cy="502920"/>
          </a:xfrm>
          <a:prstGeom prst="rect">
            <a:avLst/>
          </a:prstGeom>
          <a:noFill/>
          <a:ln/>
        </p:spPr>
        <p:txBody>
          <a:bodyPr wrap="square" lIns="508" tIns="508" rIns="508" bIns="508" rtlCol="0" anchor="ctr"/>
          <a:lstStyle/>
          <a:p>
            <a:pPr algn="ctr" indent="0" marL="0">
              <a:buNone/>
            </a:pPr>
            <a:r>
              <a:rPr lang="en-US" sz="1050" b="1" dirty="0">
                <a:solidFill>
                  <a:srgbClr val="1C1E23"/>
                </a:solidFill>
                <a:latin typeface="Arial" pitchFamily="34" charset="0"/>
                <a:ea typeface="Arial" pitchFamily="34" charset="-122"/>
                <a:cs typeface="Arial" pitchFamily="34" charset="-120"/>
              </a:rPr>
              <a:t>Kibana (PromQL + ES|QL)</a:t>
            </a:r>
            <a:endParaRPr lang="en-US" sz="1050" dirty="0"/>
          </a:p>
        </p:txBody>
      </p:sp>
      <p:sp>
        <p:nvSpPr>
          <p:cNvPr id="8" name="Shape 6"/>
          <p:cNvSpPr/>
          <p:nvPr/>
        </p:nvSpPr>
        <p:spPr>
          <a:xfrm>
            <a:off x="548640" y="2834640"/>
            <a:ext cx="1737360" cy="548640"/>
          </a:xfrm>
          <a:prstGeom prst="roundRect">
            <a:avLst>
              <a:gd name="adj" fmla="val 11667"/>
            </a:avLst>
          </a:prstGeom>
          <a:solidFill>
            <a:srgbClr val="FFFFFF"/>
          </a:solidFill>
          <a:ln w="12700">
            <a:solidFill>
              <a:srgbClr val="153385"/>
            </a:solidFill>
            <a:prstDash val="solid"/>
          </a:ln>
          <a:effectLst>
            <a:outerShdw sx="100000" sy="100000" kx="0" ky="0" algn="bl" rotWithShape="0" blurRad="76200" dist="25400" dir="5400000">
              <a:srgbClr val="AAB4C4">
                <a:alpha val="35000"/>
              </a:srgbClr>
            </a:outerShdw>
          </a:effectLst>
        </p:spPr>
      </p:sp>
      <p:sp>
        <p:nvSpPr>
          <p:cNvPr id="9" name="Text 7"/>
          <p:cNvSpPr txBox="1"/>
          <p:nvPr/>
        </p:nvSpPr>
        <p:spPr>
          <a:xfrm>
            <a:off x="548640" y="2834640"/>
            <a:ext cx="1737360" cy="548640"/>
          </a:xfrm>
          <a:prstGeom prst="rect">
            <a:avLst/>
          </a:prstGeom>
          <a:noFill/>
          <a:ln/>
        </p:spPr>
        <p:txBody>
          <a:bodyPr wrap="square" lIns="508" tIns="508" rIns="508" bIns="508" rtlCol="0" anchor="ctr"/>
          <a:lstStyle/>
          <a:p>
            <a:pPr algn="ctr" indent="0" marL="0">
              <a:buNone/>
            </a:pPr>
            <a:r>
              <a:rPr lang="en-US" sz="1100" b="1" dirty="0">
                <a:solidFill>
                  <a:srgbClr val="1C1E23"/>
                </a:solidFill>
                <a:latin typeface="Arial" pitchFamily="34" charset="0"/>
                <a:ea typeface="Arial" pitchFamily="34" charset="-122"/>
                <a:cs typeface="Arial" pitchFamily="34" charset="-120"/>
              </a:rPr>
              <a:t>Prometheus</a:t>
            </a:r>
            <a:endParaRPr lang="en-US" sz="1100" dirty="0"/>
          </a:p>
        </p:txBody>
      </p:sp>
      <p:sp>
        <p:nvSpPr>
          <p:cNvPr id="10" name="Shape 8"/>
          <p:cNvSpPr/>
          <p:nvPr/>
        </p:nvSpPr>
        <p:spPr>
          <a:xfrm>
            <a:off x="2834640" y="2697480"/>
            <a:ext cx="4206240" cy="3017520"/>
          </a:xfrm>
          <a:prstGeom prst="roundRect">
            <a:avLst>
              <a:gd name="adj" fmla="val 2727"/>
            </a:avLst>
          </a:prstGeom>
          <a:solidFill>
            <a:srgbClr val="0B64DD"/>
          </a:solidFill>
          <a:ln w="12700">
            <a:solidFill>
              <a:srgbClr val="153385"/>
            </a:solidFill>
            <a:prstDash val="solid"/>
          </a:ln>
        </p:spPr>
      </p:sp>
      <p:sp>
        <p:nvSpPr>
          <p:cNvPr id="11" name="Text 9"/>
          <p:cNvSpPr txBox="1"/>
          <p:nvPr/>
        </p:nvSpPr>
        <p:spPr>
          <a:xfrm>
            <a:off x="3063240" y="2834640"/>
            <a:ext cx="3749040" cy="36576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Elastic Observability</a:t>
            </a:r>
            <a:endParaRPr lang="en-US" sz="1400" dirty="0"/>
          </a:p>
        </p:txBody>
      </p:sp>
      <p:sp>
        <p:nvSpPr>
          <p:cNvPr id="12" name="Shape 10"/>
          <p:cNvSpPr/>
          <p:nvPr/>
        </p:nvSpPr>
        <p:spPr>
          <a:xfrm>
            <a:off x="3063240" y="3291840"/>
            <a:ext cx="3749040" cy="548640"/>
          </a:xfrm>
          <a:prstGeom prst="roundRect">
            <a:avLst>
              <a:gd name="adj" fmla="val 11667"/>
            </a:avLst>
          </a:prstGeom>
          <a:solidFill>
            <a:srgbClr val="153385"/>
          </a:solidFill>
          <a:ln w="12700">
            <a:solidFill>
              <a:srgbClr val="153385"/>
            </a:solidFill>
            <a:prstDash val="solid"/>
          </a:ln>
        </p:spPr>
      </p:sp>
      <p:sp>
        <p:nvSpPr>
          <p:cNvPr id="13" name="Text 11"/>
          <p:cNvSpPr txBox="1"/>
          <p:nvPr/>
        </p:nvSpPr>
        <p:spPr>
          <a:xfrm>
            <a:off x="3063240" y="3291840"/>
            <a:ext cx="3749040" cy="548640"/>
          </a:xfrm>
          <a:prstGeom prst="rect">
            <a:avLst/>
          </a:prstGeom>
          <a:noFill/>
          <a:ln/>
        </p:spPr>
        <p:txBody>
          <a:bodyPr wrap="square" lIns="508" tIns="508" rIns="508" bIns="508"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Metrics · logs · traces — correlated</a:t>
            </a:r>
            <a:endParaRPr lang="en-US" sz="1100" dirty="0"/>
          </a:p>
        </p:txBody>
      </p:sp>
      <p:sp>
        <p:nvSpPr>
          <p:cNvPr id="14" name="Shape 12"/>
          <p:cNvSpPr/>
          <p:nvPr/>
        </p:nvSpPr>
        <p:spPr>
          <a:xfrm>
            <a:off x="3063240" y="3977640"/>
            <a:ext cx="1783080" cy="502920"/>
          </a:xfrm>
          <a:prstGeom prst="roundRect">
            <a:avLst>
              <a:gd name="adj" fmla="val 12727"/>
            </a:avLst>
          </a:prstGeom>
          <a:solidFill>
            <a:srgbClr val="FFFFFF"/>
          </a:solidFill>
          <a:ln w="12700">
            <a:solidFill>
              <a:srgbClr val="153385"/>
            </a:solidFill>
            <a:prstDash val="solid"/>
          </a:ln>
        </p:spPr>
      </p:sp>
      <p:sp>
        <p:nvSpPr>
          <p:cNvPr id="15" name="Text 13"/>
          <p:cNvSpPr txBox="1"/>
          <p:nvPr/>
        </p:nvSpPr>
        <p:spPr>
          <a:xfrm>
            <a:off x="3063240" y="3977640"/>
            <a:ext cx="1783080" cy="502920"/>
          </a:xfrm>
          <a:prstGeom prst="rect">
            <a:avLst/>
          </a:prstGeom>
          <a:noFill/>
          <a:ln/>
        </p:spPr>
        <p:txBody>
          <a:bodyPr wrap="square" lIns="508" tIns="508" rIns="508" bIns="508" rtlCol="0" anchor="ctr"/>
          <a:lstStyle/>
          <a:p>
            <a:pPr algn="ctr" indent="0" marL="0">
              <a:buNone/>
            </a:pPr>
            <a:r>
              <a:rPr lang="en-US" sz="1000" dirty="0">
                <a:solidFill>
                  <a:srgbClr val="1C1E23"/>
                </a:solidFill>
                <a:latin typeface="Arial" pitchFamily="34" charset="0"/>
                <a:ea typeface="Arial" pitchFamily="34" charset="-122"/>
                <a:cs typeface="Arial" pitchFamily="34" charset="-120"/>
              </a:rPr>
              <a:t>Hot: recent data</a:t>
            </a:r>
            <a:endParaRPr lang="en-US" sz="1000" dirty="0"/>
          </a:p>
        </p:txBody>
      </p:sp>
      <p:sp>
        <p:nvSpPr>
          <p:cNvPr id="16" name="Shape 14"/>
          <p:cNvSpPr/>
          <p:nvPr/>
        </p:nvSpPr>
        <p:spPr>
          <a:xfrm>
            <a:off x="5029200" y="3977640"/>
            <a:ext cx="1783080" cy="502920"/>
          </a:xfrm>
          <a:prstGeom prst="roundRect">
            <a:avLst>
              <a:gd name="adj" fmla="val 12727"/>
            </a:avLst>
          </a:prstGeom>
          <a:solidFill>
            <a:srgbClr val="FFFFFF"/>
          </a:solidFill>
          <a:ln w="12700">
            <a:solidFill>
              <a:srgbClr val="153385"/>
            </a:solidFill>
            <a:prstDash val="solid"/>
          </a:ln>
        </p:spPr>
      </p:sp>
      <p:sp>
        <p:nvSpPr>
          <p:cNvPr id="17" name="Text 15"/>
          <p:cNvSpPr txBox="1"/>
          <p:nvPr/>
        </p:nvSpPr>
        <p:spPr>
          <a:xfrm>
            <a:off x="5029200" y="3977640"/>
            <a:ext cx="1783080" cy="502920"/>
          </a:xfrm>
          <a:prstGeom prst="rect">
            <a:avLst/>
          </a:prstGeom>
          <a:noFill/>
          <a:ln/>
        </p:spPr>
        <p:txBody>
          <a:bodyPr wrap="square" lIns="508" tIns="508" rIns="508" bIns="508" rtlCol="0" anchor="ctr"/>
          <a:lstStyle/>
          <a:p>
            <a:pPr algn="ctr" indent="0" marL="0">
              <a:buNone/>
            </a:pPr>
            <a:r>
              <a:rPr lang="en-US" sz="1000" dirty="0">
                <a:solidFill>
                  <a:srgbClr val="1C1E23"/>
                </a:solidFill>
                <a:latin typeface="Arial" pitchFamily="34" charset="0"/>
                <a:ea typeface="Arial" pitchFamily="34" charset="-122"/>
                <a:cs typeface="Arial" pitchFamily="34" charset="-120"/>
              </a:rPr>
              <a:t>Frozen: history</a:t>
            </a:r>
            <a:endParaRPr lang="en-US" sz="1000" dirty="0"/>
          </a:p>
        </p:txBody>
      </p:sp>
      <p:sp>
        <p:nvSpPr>
          <p:cNvPr id="18" name="Shape 16"/>
          <p:cNvSpPr/>
          <p:nvPr/>
        </p:nvSpPr>
        <p:spPr>
          <a:xfrm>
            <a:off x="3063240" y="4617720"/>
            <a:ext cx="3749040" cy="502920"/>
          </a:xfrm>
          <a:prstGeom prst="roundRect">
            <a:avLst>
              <a:gd name="adj" fmla="val 12727"/>
            </a:avLst>
          </a:prstGeom>
          <a:solidFill>
            <a:srgbClr val="48EFCF"/>
          </a:solidFill>
          <a:ln w="12700">
            <a:solidFill>
              <a:srgbClr val="153385"/>
            </a:solidFill>
            <a:prstDash val="solid"/>
          </a:ln>
        </p:spPr>
      </p:sp>
      <p:sp>
        <p:nvSpPr>
          <p:cNvPr id="19" name="Text 17"/>
          <p:cNvSpPr txBox="1"/>
          <p:nvPr/>
        </p:nvSpPr>
        <p:spPr>
          <a:xfrm>
            <a:off x="3063240" y="4617720"/>
            <a:ext cx="3749040" cy="502920"/>
          </a:xfrm>
          <a:prstGeom prst="rect">
            <a:avLst/>
          </a:prstGeom>
          <a:noFill/>
          <a:ln/>
        </p:spPr>
        <p:txBody>
          <a:bodyPr wrap="square" lIns="508" tIns="508" rIns="508" bIns="508" rtlCol="0" anchor="ctr"/>
          <a:lstStyle/>
          <a:p>
            <a:pPr algn="ctr" indent="0" marL="0">
              <a:buNone/>
            </a:pPr>
            <a:r>
              <a:rPr lang="en-US" sz="1100" b="1" dirty="0">
                <a:solidFill>
                  <a:srgbClr val="101C3F"/>
                </a:solidFill>
                <a:latin typeface="Arial" pitchFamily="34" charset="0"/>
                <a:ea typeface="Arial" pitchFamily="34" charset="-122"/>
                <a:cs typeface="Arial" pitchFamily="34" charset="-120"/>
              </a:rPr>
              <a:t>12 months of metrics retention</a:t>
            </a:r>
            <a:endParaRPr lang="en-US" sz="1100" dirty="0"/>
          </a:p>
        </p:txBody>
      </p:sp>
      <p:sp>
        <p:nvSpPr>
          <p:cNvPr id="20" name="Text 18"/>
          <p:cNvSpPr txBox="1"/>
          <p:nvPr/>
        </p:nvSpPr>
        <p:spPr>
          <a:xfrm>
            <a:off x="3063240" y="5257800"/>
            <a:ext cx="3749040" cy="274320"/>
          </a:xfrm>
          <a:prstGeom prst="rect">
            <a:avLst/>
          </a:prstGeom>
          <a:noFill/>
          <a:ln/>
        </p:spPr>
        <p:txBody>
          <a:bodyPr wrap="square" lIns="0" tIns="0" rIns="0" bIns="0" rtlCol="0" anchor="ctr"/>
          <a:lstStyle/>
          <a:p>
            <a:pPr algn="l" indent="0" marL="0">
              <a:buNone/>
            </a:pPr>
            <a:r>
              <a:rPr lang="en-US" sz="950" i="1" dirty="0">
                <a:solidFill>
                  <a:srgbClr val="FFFFFF"/>
                </a:solidFill>
                <a:latin typeface="Arial" pitchFamily="34" charset="0"/>
                <a:ea typeface="Arial" pitchFamily="34" charset="-122"/>
                <a:cs typeface="Arial" pitchFamily="34" charset="-120"/>
              </a:rPr>
              <a:t>compare this week to the same week last year — one PromQL query</a:t>
            </a:r>
            <a:endParaRPr lang="en-US" sz="950" dirty="0"/>
          </a:p>
        </p:txBody>
      </p:sp>
      <p:sp>
        <p:nvSpPr>
          <p:cNvPr id="21" name="Shape 19"/>
          <p:cNvSpPr/>
          <p:nvPr/>
        </p:nvSpPr>
        <p:spPr>
          <a:xfrm>
            <a:off x="2286000" y="3108960"/>
            <a:ext cx="548640" cy="0"/>
          </a:xfrm>
          <a:prstGeom prst="line">
            <a:avLst/>
          </a:prstGeom>
          <a:noFill/>
          <a:ln w="31750">
            <a:solidFill>
              <a:srgbClr val="0B64DD"/>
            </a:solidFill>
            <a:prstDash val="solid"/>
            <a:tailEnd type="triangle"/>
          </a:ln>
        </p:spPr>
      </p:sp>
      <p:sp>
        <p:nvSpPr>
          <p:cNvPr id="22" name="Shape 20"/>
          <p:cNvSpPr/>
          <p:nvPr/>
        </p:nvSpPr>
        <p:spPr>
          <a:xfrm>
            <a:off x="2240280" y="2103120"/>
            <a:ext cx="594360" cy="685800"/>
          </a:xfrm>
          <a:prstGeom prst="line">
            <a:avLst/>
          </a:prstGeom>
          <a:noFill/>
          <a:ln w="25400">
            <a:solidFill>
              <a:srgbClr val="153385"/>
            </a:solidFill>
            <a:prstDash val="solid"/>
            <a:tailEnd type="triangle"/>
          </a:ln>
        </p:spPr>
      </p:sp>
      <p:sp>
        <p:nvSpPr>
          <p:cNvPr id="23" name="Shape 21"/>
          <p:cNvSpPr/>
          <p:nvPr/>
        </p:nvSpPr>
        <p:spPr>
          <a:xfrm>
            <a:off x="4617720" y="2103120"/>
            <a:ext cx="274320" cy="594360"/>
          </a:xfrm>
          <a:prstGeom prst="line">
            <a:avLst/>
          </a:prstGeom>
          <a:noFill/>
          <a:ln w="25400">
            <a:solidFill>
              <a:srgbClr val="153385"/>
            </a:solidFill>
            <a:prstDash val="solid"/>
            <a:tailEnd type="triangle"/>
          </a:ln>
        </p:spPr>
      </p:sp>
      <p:sp>
        <p:nvSpPr>
          <p:cNvPr id="24" name="Shape 22"/>
          <p:cNvSpPr/>
          <p:nvPr/>
        </p:nvSpPr>
        <p:spPr>
          <a:xfrm>
            <a:off x="548640" y="4206240"/>
            <a:ext cx="1920240" cy="1508760"/>
          </a:xfrm>
          <a:prstGeom prst="roundRect">
            <a:avLst>
              <a:gd name="adj" fmla="val 5455"/>
            </a:avLst>
          </a:prstGeom>
          <a:solidFill>
            <a:srgbClr val="F5F7FA"/>
          </a:solidFill>
          <a:ln w="12700">
            <a:solidFill>
              <a:srgbClr val="9AA6B8"/>
            </a:solidFill>
            <a:prstDash val="dash"/>
          </a:ln>
        </p:spPr>
      </p:sp>
      <p:sp>
        <p:nvSpPr>
          <p:cNvPr id="25" name="Text 23"/>
          <p:cNvSpPr txBox="1"/>
          <p:nvPr/>
        </p:nvSpPr>
        <p:spPr>
          <a:xfrm>
            <a:off x="548640" y="4343400"/>
            <a:ext cx="1920240" cy="685800"/>
          </a:xfrm>
          <a:prstGeom prst="rect">
            <a:avLst/>
          </a:prstGeom>
          <a:noFill/>
          <a:ln/>
        </p:spPr>
        <p:txBody>
          <a:bodyPr wrap="square" lIns="0" tIns="0" rIns="0" bIns="0" rtlCol="0" anchor="ctr"/>
          <a:lstStyle/>
          <a:p>
            <a:pPr algn="ctr" indent="0" marL="0">
              <a:buNone/>
            </a:pPr>
            <a:r>
              <a:rPr lang="en-US" sz="1100" b="1" strike="sngStrike" dirty="0">
                <a:solidFill>
                  <a:srgbClr val="8A93A3"/>
                </a:solidFill>
                <a:latin typeface="Arial" pitchFamily="34" charset="0"/>
                <a:ea typeface="Arial" pitchFamily="34" charset="-122"/>
                <a:cs typeface="Arial" pitchFamily="34" charset="-120"/>
              </a:rPr>
              <a:t>Thanos compute</a:t>
            </a:r>
            <a:endParaRPr lang="en-US" sz="1100" dirty="0"/>
          </a:p>
          <a:p>
            <a:pPr algn="ctr" indent="0" marL="0">
              <a:buNone/>
            </a:pPr>
            <a:r>
              <a:rPr lang="en-US" sz="1100" b="1" strike="sngStrike" dirty="0">
                <a:solidFill>
                  <a:srgbClr val="8A93A3"/>
                </a:solidFill>
                <a:latin typeface="Arial" pitchFamily="34" charset="0"/>
                <a:ea typeface="Arial" pitchFamily="34" charset="-122"/>
                <a:cs typeface="Arial" pitchFamily="34" charset="-120"/>
              </a:rPr>
              <a:t>retired</a:t>
            </a:r>
            <a:endParaRPr lang="en-US" sz="1100" dirty="0"/>
          </a:p>
        </p:txBody>
      </p:sp>
      <p:sp>
        <p:nvSpPr>
          <p:cNvPr id="26" name="Text 24"/>
          <p:cNvSpPr txBox="1"/>
          <p:nvPr/>
        </p:nvSpPr>
        <p:spPr>
          <a:xfrm>
            <a:off x="548640" y="5029200"/>
            <a:ext cx="1920240" cy="548640"/>
          </a:xfrm>
          <a:prstGeom prst="rect">
            <a:avLst/>
          </a:prstGeom>
          <a:noFill/>
          <a:ln/>
        </p:spPr>
        <p:txBody>
          <a:bodyPr wrap="square" lIns="0" tIns="0" rIns="0" bIns="0" rtlCol="0" anchor="ctr"/>
          <a:lstStyle/>
          <a:p>
            <a:pPr algn="ctr" indent="0" marL="0">
              <a:buNone/>
            </a:pPr>
            <a:r>
              <a:rPr lang="en-US" sz="900" dirty="0">
                <a:solidFill>
                  <a:srgbClr val="8A93A3"/>
                </a:solidFill>
                <a:latin typeface="Arial" pitchFamily="34" charset="0"/>
                <a:ea typeface="Arial" pitchFamily="34" charset="-122"/>
                <a:cs typeface="Arial" pitchFamily="34" charset="-120"/>
              </a:rPr>
              <a:t>bucket kept 6–12 mo</a:t>
            </a:r>
            <a:endParaRPr lang="en-US" sz="900" dirty="0"/>
          </a:p>
          <a:p>
            <a:pPr algn="ctr" indent="0" marL="0">
              <a:buNone/>
            </a:pPr>
            <a:r>
              <a:rPr lang="en-US" sz="900" dirty="0">
                <a:solidFill>
                  <a:srgbClr val="8A93A3"/>
                </a:solidFill>
                <a:latin typeface="Arial" pitchFamily="34" charset="0"/>
                <a:ea typeface="Arial" pitchFamily="34" charset="-122"/>
                <a:cs typeface="Arial" pitchFamily="34" charset="-120"/>
              </a:rPr>
              <a:t>as rollback, then deleted</a:t>
            </a:r>
            <a:endParaRPr lang="en-US" sz="900" dirty="0"/>
          </a:p>
        </p:txBody>
      </p:sp>
      <p:sp>
        <p:nvSpPr>
          <p:cNvPr id="27" name="Shape 25"/>
          <p:cNvSpPr/>
          <p:nvPr/>
        </p:nvSpPr>
        <p:spPr>
          <a:xfrm>
            <a:off x="7635240" y="1554480"/>
            <a:ext cx="4023360" cy="1371600"/>
          </a:xfrm>
          <a:prstGeom prst="roundRect">
            <a:avLst>
              <a:gd name="adj" fmla="val 6000"/>
            </a:avLst>
          </a:prstGeom>
          <a:solidFill>
            <a:srgbClr val="F5F7FA"/>
          </a:solidFill>
          <a:ln w="9525">
            <a:solidFill>
              <a:srgbClr val="DCE2EA"/>
            </a:solidFill>
            <a:prstDash val="solid"/>
          </a:ln>
        </p:spPr>
      </p:sp>
      <p:sp>
        <p:nvSpPr>
          <p:cNvPr id="28" name="Shape 26"/>
          <p:cNvSpPr/>
          <p:nvPr/>
        </p:nvSpPr>
        <p:spPr>
          <a:xfrm>
            <a:off x="7836408" y="1755648"/>
            <a:ext cx="310896" cy="310896"/>
          </a:xfrm>
          <a:prstGeom prst="ellipse">
            <a:avLst/>
          </a:prstGeom>
          <a:solidFill>
            <a:srgbClr val="48EFCF"/>
          </a:solidFill>
          <a:ln/>
        </p:spPr>
      </p:sp>
      <p:sp>
        <p:nvSpPr>
          <p:cNvPr id="29" name="Text 27"/>
          <p:cNvSpPr txBox="1"/>
          <p:nvPr/>
        </p:nvSpPr>
        <p:spPr>
          <a:xfrm>
            <a:off x="7836408" y="1755648"/>
            <a:ext cx="310896" cy="310896"/>
          </a:xfrm>
          <a:prstGeom prst="rect">
            <a:avLst/>
          </a:prstGeom>
          <a:noFill/>
          <a:ln/>
        </p:spPr>
        <p:txBody>
          <a:bodyPr wrap="square" lIns="0" tIns="0" rIns="0" bIns="0" rtlCol="0" anchor="ctr"/>
          <a:lstStyle/>
          <a:p>
            <a:pPr algn="ctr" indent="0" marL="0">
              <a:buNone/>
            </a:pPr>
            <a:r>
              <a:rPr lang="en-US" sz="1300" b="1" dirty="0">
                <a:solidFill>
                  <a:srgbClr val="101C3F"/>
                </a:solidFill>
                <a:latin typeface="Arial" pitchFamily="34" charset="0"/>
                <a:ea typeface="Arial" pitchFamily="34" charset="-122"/>
                <a:cs typeface="Arial" pitchFamily="34" charset="-120"/>
              </a:rPr>
              <a:t>✓</a:t>
            </a:r>
            <a:endParaRPr lang="en-US" sz="1300" dirty="0"/>
          </a:p>
        </p:txBody>
      </p:sp>
      <p:sp>
        <p:nvSpPr>
          <p:cNvPr id="30" name="Text 28"/>
          <p:cNvSpPr txBox="1"/>
          <p:nvPr/>
        </p:nvSpPr>
        <p:spPr>
          <a:xfrm>
            <a:off x="8257032" y="1700784"/>
            <a:ext cx="3246120" cy="411480"/>
          </a:xfrm>
          <a:prstGeom prst="rect">
            <a:avLst/>
          </a:prstGeom>
          <a:noFill/>
          <a:ln/>
        </p:spPr>
        <p:txBody>
          <a:bodyPr wrap="square" lIns="0" tIns="0" rIns="0" bIns="0" rtlCol="0" anchor="ctr"/>
          <a:lstStyle/>
          <a:p>
            <a:pPr indent="0" marL="0">
              <a:buNone/>
            </a:pPr>
            <a:r>
              <a:rPr lang="en-US" sz="1300" b="1" dirty="0">
                <a:solidFill>
                  <a:srgbClr val="1C1E23"/>
                </a:solidFill>
                <a:latin typeface="Arial" pitchFamily="34" charset="0"/>
                <a:ea typeface="Arial" pitchFamily="34" charset="-122"/>
                <a:cs typeface="Arial" pitchFamily="34" charset="-120"/>
              </a:rPr>
              <a:t>Cost neutral</a:t>
            </a:r>
            <a:endParaRPr lang="en-US" sz="1300" dirty="0"/>
          </a:p>
        </p:txBody>
      </p:sp>
      <p:sp>
        <p:nvSpPr>
          <p:cNvPr id="31" name="Text 29"/>
          <p:cNvSpPr txBox="1"/>
          <p:nvPr/>
        </p:nvSpPr>
        <p:spPr>
          <a:xfrm>
            <a:off x="8257032" y="2084832"/>
            <a:ext cx="3246120" cy="713232"/>
          </a:xfrm>
          <a:prstGeom prst="rect">
            <a:avLst/>
          </a:prstGeom>
          <a:noFill/>
          <a:ln/>
        </p:spPr>
        <p:txBody>
          <a:bodyPr wrap="square" lIns="0" tIns="0" rIns="0" bIns="0" rtlCol="0" anchor="t"/>
          <a:lstStyle/>
          <a:p>
            <a:pPr indent="0" marL="0">
              <a:buNone/>
            </a:pPr>
            <a:r>
              <a:rPr lang="en-US" sz="1100" dirty="0">
                <a:solidFill>
                  <a:srgbClr val="3A4354"/>
                </a:solidFill>
                <a:latin typeface="Arial" pitchFamily="34" charset="0"/>
                <a:ea typeface="Arial" pitchFamily="34" charset="-122"/>
                <a:cs typeface="Arial" pitchFamily="34" charset="-120"/>
              </a:rPr>
              <a:t>Thanos queriers, store gateways, compactors, and receivers are gone; history ages on the frozen tier.</a:t>
            </a:r>
            <a:endParaRPr lang="en-US" sz="1100" dirty="0"/>
          </a:p>
        </p:txBody>
      </p:sp>
      <p:sp>
        <p:nvSpPr>
          <p:cNvPr id="32" name="Shape 30"/>
          <p:cNvSpPr/>
          <p:nvPr/>
        </p:nvSpPr>
        <p:spPr>
          <a:xfrm>
            <a:off x="7635240" y="3108960"/>
            <a:ext cx="4023360" cy="1371600"/>
          </a:xfrm>
          <a:prstGeom prst="roundRect">
            <a:avLst>
              <a:gd name="adj" fmla="val 6000"/>
            </a:avLst>
          </a:prstGeom>
          <a:solidFill>
            <a:srgbClr val="F5F7FA"/>
          </a:solidFill>
          <a:ln w="9525">
            <a:solidFill>
              <a:srgbClr val="DCE2EA"/>
            </a:solidFill>
            <a:prstDash val="solid"/>
          </a:ln>
        </p:spPr>
      </p:sp>
      <p:sp>
        <p:nvSpPr>
          <p:cNvPr id="33" name="Shape 31"/>
          <p:cNvSpPr/>
          <p:nvPr/>
        </p:nvSpPr>
        <p:spPr>
          <a:xfrm>
            <a:off x="7836408" y="3310128"/>
            <a:ext cx="310896" cy="310896"/>
          </a:xfrm>
          <a:prstGeom prst="ellipse">
            <a:avLst/>
          </a:prstGeom>
          <a:solidFill>
            <a:srgbClr val="48EFCF"/>
          </a:solidFill>
          <a:ln/>
        </p:spPr>
      </p:sp>
      <p:sp>
        <p:nvSpPr>
          <p:cNvPr id="34" name="Text 32"/>
          <p:cNvSpPr txBox="1"/>
          <p:nvPr/>
        </p:nvSpPr>
        <p:spPr>
          <a:xfrm>
            <a:off x="7836408" y="3310128"/>
            <a:ext cx="310896" cy="310896"/>
          </a:xfrm>
          <a:prstGeom prst="rect">
            <a:avLst/>
          </a:prstGeom>
          <a:noFill/>
          <a:ln/>
        </p:spPr>
        <p:txBody>
          <a:bodyPr wrap="square" lIns="0" tIns="0" rIns="0" bIns="0" rtlCol="0" anchor="ctr"/>
          <a:lstStyle/>
          <a:p>
            <a:pPr algn="ctr" indent="0" marL="0">
              <a:buNone/>
            </a:pPr>
            <a:r>
              <a:rPr lang="en-US" sz="1300" b="1" dirty="0">
                <a:solidFill>
                  <a:srgbClr val="101C3F"/>
                </a:solidFill>
                <a:latin typeface="Arial" pitchFamily="34" charset="0"/>
                <a:ea typeface="Arial" pitchFamily="34" charset="-122"/>
                <a:cs typeface="Arial" pitchFamily="34" charset="-120"/>
              </a:rPr>
              <a:t>✓</a:t>
            </a:r>
            <a:endParaRPr lang="en-US" sz="1300" dirty="0"/>
          </a:p>
        </p:txBody>
      </p:sp>
      <p:sp>
        <p:nvSpPr>
          <p:cNvPr id="35" name="Text 33"/>
          <p:cNvSpPr txBox="1"/>
          <p:nvPr/>
        </p:nvSpPr>
        <p:spPr>
          <a:xfrm>
            <a:off x="8257032" y="3255264"/>
            <a:ext cx="3246120" cy="411480"/>
          </a:xfrm>
          <a:prstGeom prst="rect">
            <a:avLst/>
          </a:prstGeom>
          <a:noFill/>
          <a:ln/>
        </p:spPr>
        <p:txBody>
          <a:bodyPr wrap="square" lIns="0" tIns="0" rIns="0" bIns="0" rtlCol="0" anchor="ctr"/>
          <a:lstStyle/>
          <a:p>
            <a:pPr indent="0" marL="0">
              <a:buNone/>
            </a:pPr>
            <a:r>
              <a:rPr lang="en-US" sz="1300" b="1" dirty="0">
                <a:solidFill>
                  <a:srgbClr val="1C1E23"/>
                </a:solidFill>
                <a:latin typeface="Arial" pitchFamily="34" charset="0"/>
                <a:ea typeface="Arial" pitchFamily="34" charset="-122"/>
                <a:cs typeface="Arial" pitchFamily="34" charset="-120"/>
              </a:rPr>
              <a:t>Nothing to relearn</a:t>
            </a:r>
            <a:endParaRPr lang="en-US" sz="1300" dirty="0"/>
          </a:p>
        </p:txBody>
      </p:sp>
      <p:sp>
        <p:nvSpPr>
          <p:cNvPr id="36" name="Text 34"/>
          <p:cNvSpPr txBox="1"/>
          <p:nvPr/>
        </p:nvSpPr>
        <p:spPr>
          <a:xfrm>
            <a:off x="8257032" y="3639312"/>
            <a:ext cx="3246120" cy="713232"/>
          </a:xfrm>
          <a:prstGeom prst="rect">
            <a:avLst/>
          </a:prstGeom>
          <a:noFill/>
          <a:ln/>
        </p:spPr>
        <p:txBody>
          <a:bodyPr wrap="square" lIns="0" tIns="0" rIns="0" bIns="0" rtlCol="0" anchor="t"/>
          <a:lstStyle/>
          <a:p>
            <a:pPr indent="0" marL="0">
              <a:buNone/>
            </a:pPr>
            <a:r>
              <a:rPr lang="en-US" sz="1100" dirty="0">
                <a:solidFill>
                  <a:srgbClr val="3A4354"/>
                </a:solidFill>
                <a:latin typeface="Arial" pitchFamily="34" charset="0"/>
                <a:ea typeface="Arial" pitchFamily="34" charset="-122"/>
                <a:cs typeface="Arial" pitchFamily="34" charset="-120"/>
              </a:rPr>
              <a:t>Dashboards and alerts keep their PromQL verbatim — Elastic answers the same query language natively.</a:t>
            </a:r>
            <a:endParaRPr lang="en-US" sz="1100" dirty="0"/>
          </a:p>
        </p:txBody>
      </p:sp>
      <p:sp>
        <p:nvSpPr>
          <p:cNvPr id="37" name="Shape 35"/>
          <p:cNvSpPr/>
          <p:nvPr/>
        </p:nvSpPr>
        <p:spPr>
          <a:xfrm>
            <a:off x="7635240" y="4663440"/>
            <a:ext cx="4023360" cy="1371600"/>
          </a:xfrm>
          <a:prstGeom prst="roundRect">
            <a:avLst>
              <a:gd name="adj" fmla="val 6000"/>
            </a:avLst>
          </a:prstGeom>
          <a:solidFill>
            <a:srgbClr val="F5F7FA"/>
          </a:solidFill>
          <a:ln w="9525">
            <a:solidFill>
              <a:srgbClr val="DCE2EA"/>
            </a:solidFill>
            <a:prstDash val="solid"/>
          </a:ln>
        </p:spPr>
      </p:sp>
      <p:sp>
        <p:nvSpPr>
          <p:cNvPr id="38" name="Shape 36"/>
          <p:cNvSpPr/>
          <p:nvPr/>
        </p:nvSpPr>
        <p:spPr>
          <a:xfrm>
            <a:off x="7836408" y="4864608"/>
            <a:ext cx="310896" cy="310896"/>
          </a:xfrm>
          <a:prstGeom prst="ellipse">
            <a:avLst/>
          </a:prstGeom>
          <a:solidFill>
            <a:srgbClr val="48EFCF"/>
          </a:solidFill>
          <a:ln/>
        </p:spPr>
      </p:sp>
      <p:sp>
        <p:nvSpPr>
          <p:cNvPr id="39" name="Text 37"/>
          <p:cNvSpPr txBox="1"/>
          <p:nvPr/>
        </p:nvSpPr>
        <p:spPr>
          <a:xfrm>
            <a:off x="7836408" y="4864608"/>
            <a:ext cx="310896" cy="310896"/>
          </a:xfrm>
          <a:prstGeom prst="rect">
            <a:avLst/>
          </a:prstGeom>
          <a:noFill/>
          <a:ln/>
        </p:spPr>
        <p:txBody>
          <a:bodyPr wrap="square" lIns="0" tIns="0" rIns="0" bIns="0" rtlCol="0" anchor="ctr"/>
          <a:lstStyle/>
          <a:p>
            <a:pPr algn="ctr" indent="0" marL="0">
              <a:buNone/>
            </a:pPr>
            <a:r>
              <a:rPr lang="en-US" sz="1300" b="1" dirty="0">
                <a:solidFill>
                  <a:srgbClr val="101C3F"/>
                </a:solidFill>
                <a:latin typeface="Arial" pitchFamily="34" charset="0"/>
                <a:ea typeface="Arial" pitchFamily="34" charset="-122"/>
                <a:cs typeface="Arial" pitchFamily="34" charset="-120"/>
              </a:rPr>
              <a:t>✓</a:t>
            </a:r>
            <a:endParaRPr lang="en-US" sz="1300" dirty="0"/>
          </a:p>
        </p:txBody>
      </p:sp>
      <p:sp>
        <p:nvSpPr>
          <p:cNvPr id="40" name="Text 38"/>
          <p:cNvSpPr txBox="1"/>
          <p:nvPr/>
        </p:nvSpPr>
        <p:spPr>
          <a:xfrm>
            <a:off x="8257032" y="4809744"/>
            <a:ext cx="3246120" cy="411480"/>
          </a:xfrm>
          <a:prstGeom prst="rect">
            <a:avLst/>
          </a:prstGeom>
          <a:noFill/>
          <a:ln/>
        </p:spPr>
        <p:txBody>
          <a:bodyPr wrap="square" lIns="0" tIns="0" rIns="0" bIns="0" rtlCol="0" anchor="ctr"/>
          <a:lstStyle/>
          <a:p>
            <a:pPr indent="0" marL="0">
              <a:buNone/>
            </a:pPr>
            <a:r>
              <a:rPr lang="en-US" sz="1300" b="1" dirty="0">
                <a:solidFill>
                  <a:srgbClr val="1C1E23"/>
                </a:solidFill>
                <a:latin typeface="Arial" pitchFamily="34" charset="0"/>
                <a:ea typeface="Arial" pitchFamily="34" charset="-122"/>
                <a:cs typeface="Arial" pitchFamily="34" charset="-120"/>
              </a:rPr>
              <a:t>Faster answers</a:t>
            </a:r>
            <a:endParaRPr lang="en-US" sz="1300" dirty="0"/>
          </a:p>
        </p:txBody>
      </p:sp>
      <p:sp>
        <p:nvSpPr>
          <p:cNvPr id="41" name="Text 39"/>
          <p:cNvSpPr txBox="1"/>
          <p:nvPr/>
        </p:nvSpPr>
        <p:spPr>
          <a:xfrm>
            <a:off x="8257032" y="5193792"/>
            <a:ext cx="3246120" cy="713232"/>
          </a:xfrm>
          <a:prstGeom prst="rect">
            <a:avLst/>
          </a:prstGeom>
          <a:noFill/>
          <a:ln/>
        </p:spPr>
        <p:txBody>
          <a:bodyPr wrap="square" lIns="0" tIns="0" rIns="0" bIns="0" rtlCol="0" anchor="t"/>
          <a:lstStyle/>
          <a:p>
            <a:pPr indent="0" marL="0">
              <a:buNone/>
            </a:pPr>
            <a:r>
              <a:rPr lang="en-US" sz="1100" dirty="0">
                <a:solidFill>
                  <a:srgbClr val="3A4354"/>
                </a:solidFill>
                <a:latin typeface="Arial" pitchFamily="34" charset="0"/>
                <a:ea typeface="Arial" pitchFamily="34" charset="-122"/>
                <a:cs typeface="Arial" pitchFamily="34" charset="-120"/>
              </a:rPr>
              <a:t>A metric spike, its logs, and the traces behind it — investigated in one place, not two.</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1C3F"/>
        </a:solidFill>
      </p:bgPr>
    </p:bg>
    <p:spTree>
      <p:nvGrpSpPr>
        <p:cNvPr id="1" name=""/>
        <p:cNvGrpSpPr/>
        <p:nvPr/>
      </p:nvGrpSpPr>
      <p:grpSpPr>
        <a:xfrm>
          <a:off x="0" y="0"/>
          <a:ext cx="0" cy="0"/>
          <a:chOff x="0" y="0"/>
          <a:chExt cx="0" cy="0"/>
        </a:xfrm>
      </p:grpSpPr>
      <p:sp>
        <p:nvSpPr>
          <p:cNvPr id="2" name="Text 0"/>
          <p:cNvSpPr txBox="1"/>
          <p:nvPr/>
        </p:nvSpPr>
        <p:spPr>
          <a:xfrm>
            <a:off x="548640" y="292608"/>
            <a:ext cx="11064240" cy="292608"/>
          </a:xfrm>
          <a:prstGeom prst="rect">
            <a:avLst/>
          </a:prstGeom>
          <a:noFill/>
          <a:ln/>
        </p:spPr>
        <p:txBody>
          <a:bodyPr wrap="square" lIns="0" tIns="0" rIns="0" bIns="0" rtlCol="0" anchor="ctr"/>
          <a:lstStyle/>
          <a:p>
            <a:pPr indent="0" marL="0">
              <a:buNone/>
            </a:pPr>
            <a:r>
              <a:rPr lang="en-US" sz="1300" b="1" spc="200" kern="0" dirty="0">
                <a:solidFill>
                  <a:srgbClr val="48EFCF"/>
                </a:solidFill>
                <a:latin typeface="Arial" pitchFamily="34" charset="0"/>
                <a:ea typeface="Arial" pitchFamily="34" charset="-122"/>
                <a:cs typeface="Arial" pitchFamily="34" charset="-120"/>
              </a:rPr>
              <a:t>WHY WE'RE CONFIDENT</a:t>
            </a:r>
            <a:endParaRPr lang="en-US" sz="1300" dirty="0"/>
          </a:p>
        </p:txBody>
      </p:sp>
      <p:sp>
        <p:nvSpPr>
          <p:cNvPr id="3" name="Text 1"/>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Verified end to end — not a paper exercise</a:t>
            </a:r>
            <a:endParaRPr lang="en-US" sz="3200" dirty="0"/>
          </a:p>
        </p:txBody>
      </p:sp>
      <p:sp>
        <p:nvSpPr>
          <p:cNvPr id="4" name="Text 2"/>
          <p:cNvSpPr txBox="1"/>
          <p:nvPr/>
        </p:nvSpPr>
        <p:spPr>
          <a:xfrm>
            <a:off x="548640" y="1691640"/>
            <a:ext cx="2651760" cy="868680"/>
          </a:xfrm>
          <a:prstGeom prst="rect">
            <a:avLst/>
          </a:prstGeom>
          <a:noFill/>
          <a:ln/>
        </p:spPr>
        <p:txBody>
          <a:bodyPr wrap="square" lIns="0" tIns="0" rIns="0" bIns="0" rtlCol="0" anchor="ctr"/>
          <a:lstStyle/>
          <a:p>
            <a:pPr indent="0" marL="0">
              <a:buNone/>
            </a:pPr>
            <a:r>
              <a:rPr lang="en-US" sz="4000" b="1" dirty="0">
                <a:solidFill>
                  <a:srgbClr val="48EFCF"/>
                </a:solidFill>
                <a:latin typeface="Arial" pitchFamily="34" charset="0"/>
                <a:ea typeface="Arial" pitchFamily="34" charset="-122"/>
                <a:cs typeface="Arial" pitchFamily="34" charset="-120"/>
              </a:rPr>
              <a:t>Exact</a:t>
            </a:r>
            <a:endParaRPr lang="en-US" sz="4000" dirty="0"/>
          </a:p>
        </p:txBody>
      </p:sp>
      <p:sp>
        <p:nvSpPr>
          <p:cNvPr id="5" name="Text 3"/>
          <p:cNvSpPr txBox="1"/>
          <p:nvPr/>
        </p:nvSpPr>
        <p:spPr>
          <a:xfrm>
            <a:off x="548640" y="2560320"/>
            <a:ext cx="2514600" cy="1051560"/>
          </a:xfrm>
          <a:prstGeom prst="rect">
            <a:avLst/>
          </a:prstGeom>
          <a:noFill/>
          <a:ln/>
        </p:spPr>
        <p:txBody>
          <a:bodyPr wrap="square" lIns="0" tIns="0" rIns="0" bIns="0" rtlCol="0" anchor="ctr"/>
          <a:lstStyle/>
          <a:p>
            <a:pPr indent="0" marL="0">
              <a:buNone/>
            </a:pPr>
            <a:r>
              <a:rPr lang="en-US" sz="1150" dirty="0">
                <a:solidFill>
                  <a:srgbClr val="DCE2EA"/>
                </a:solidFill>
                <a:latin typeface="Arial" pitchFamily="34" charset="0"/>
                <a:ea typeface="Arial" pitchFamily="34" charset="-122"/>
                <a:cs typeface="Arial" pitchFamily="34" charset="-120"/>
              </a:rPr>
              <a:t>gauge values match Prometheus digit-for-digit after migration</a:t>
            </a:r>
            <a:endParaRPr lang="en-US" sz="1150" dirty="0"/>
          </a:p>
        </p:txBody>
      </p:sp>
      <p:sp>
        <p:nvSpPr>
          <p:cNvPr id="6" name="Text 4"/>
          <p:cNvSpPr txBox="1"/>
          <p:nvPr/>
        </p:nvSpPr>
        <p:spPr>
          <a:xfrm>
            <a:off x="3383280" y="1691640"/>
            <a:ext cx="2651760" cy="868680"/>
          </a:xfrm>
          <a:prstGeom prst="rect">
            <a:avLst/>
          </a:prstGeom>
          <a:noFill/>
          <a:ln/>
        </p:spPr>
        <p:txBody>
          <a:bodyPr wrap="square" lIns="0" tIns="0" rIns="0" bIns="0" rtlCol="0" anchor="ctr"/>
          <a:lstStyle/>
          <a:p>
            <a:pPr indent="0" marL="0">
              <a:buNone/>
            </a:pPr>
            <a:r>
              <a:rPr lang="en-US" sz="4000" b="1" dirty="0">
                <a:solidFill>
                  <a:srgbClr val="48EFCF"/>
                </a:solidFill>
                <a:latin typeface="Arial" pitchFamily="34" charset="0"/>
                <a:ea typeface="Arial" pitchFamily="34" charset="-122"/>
                <a:cs typeface="Arial" pitchFamily="34" charset="-120"/>
              </a:rPr>
              <a:t>≤0.25%</a:t>
            </a:r>
            <a:endParaRPr lang="en-US" sz="4000" dirty="0"/>
          </a:p>
        </p:txBody>
      </p:sp>
      <p:sp>
        <p:nvSpPr>
          <p:cNvPr id="7" name="Text 5"/>
          <p:cNvSpPr txBox="1"/>
          <p:nvPr/>
        </p:nvSpPr>
        <p:spPr>
          <a:xfrm>
            <a:off x="3383280" y="2560320"/>
            <a:ext cx="2514600" cy="1051560"/>
          </a:xfrm>
          <a:prstGeom prst="rect">
            <a:avLst/>
          </a:prstGeom>
          <a:noFill/>
          <a:ln/>
        </p:spPr>
        <p:txBody>
          <a:bodyPr wrap="square" lIns="0" tIns="0" rIns="0" bIns="0" rtlCol="0" anchor="ctr"/>
          <a:lstStyle/>
          <a:p>
            <a:pPr indent="0" marL="0">
              <a:buNone/>
            </a:pPr>
            <a:r>
              <a:rPr lang="en-US" sz="1150" dirty="0">
                <a:solidFill>
                  <a:srgbClr val="DCE2EA"/>
                </a:solidFill>
                <a:latin typeface="Arial" pitchFamily="34" charset="0"/>
                <a:ea typeface="Arial" pitchFamily="34" charset="-122"/>
                <a:cs typeface="Arial" pitchFamily="34" charset="-120"/>
              </a:rPr>
              <a:t>rate() divergence across every compared bucket — resets included</a:t>
            </a:r>
            <a:endParaRPr lang="en-US" sz="1150" dirty="0"/>
          </a:p>
        </p:txBody>
      </p:sp>
      <p:sp>
        <p:nvSpPr>
          <p:cNvPr id="8" name="Text 6"/>
          <p:cNvSpPr txBox="1"/>
          <p:nvPr/>
        </p:nvSpPr>
        <p:spPr>
          <a:xfrm>
            <a:off x="6217920" y="1691640"/>
            <a:ext cx="2651760" cy="868680"/>
          </a:xfrm>
          <a:prstGeom prst="rect">
            <a:avLst/>
          </a:prstGeom>
          <a:noFill/>
          <a:ln/>
        </p:spPr>
        <p:txBody>
          <a:bodyPr wrap="square" lIns="0" tIns="0" rIns="0" bIns="0" rtlCol="0" anchor="ctr"/>
          <a:lstStyle/>
          <a:p>
            <a:pPr indent="0" marL="0">
              <a:buNone/>
            </a:pPr>
            <a:r>
              <a:rPr lang="en-US" sz="4000" b="1" dirty="0">
                <a:solidFill>
                  <a:srgbClr val="48EFCF"/>
                </a:solidFill>
                <a:latin typeface="Arial" pitchFamily="34" charset="0"/>
                <a:ea typeface="Arial" pitchFamily="34" charset="-122"/>
                <a:cs typeface="Arial" pitchFamily="34" charset="-120"/>
              </a:rPr>
              <a:t>0 lost</a:t>
            </a:r>
            <a:endParaRPr lang="en-US" sz="4000" dirty="0"/>
          </a:p>
        </p:txBody>
      </p:sp>
      <p:sp>
        <p:nvSpPr>
          <p:cNvPr id="9" name="Text 7"/>
          <p:cNvSpPr txBox="1"/>
          <p:nvPr/>
        </p:nvSpPr>
        <p:spPr>
          <a:xfrm>
            <a:off x="6217920" y="2560320"/>
            <a:ext cx="2514600" cy="1051560"/>
          </a:xfrm>
          <a:prstGeom prst="rect">
            <a:avLst/>
          </a:prstGeom>
          <a:noFill/>
          <a:ln/>
        </p:spPr>
        <p:txBody>
          <a:bodyPr wrap="square" lIns="0" tIns="0" rIns="0" bIns="0" rtlCol="0" anchor="ctr"/>
          <a:lstStyle/>
          <a:p>
            <a:pPr indent="0" marL="0">
              <a:buNone/>
            </a:pPr>
            <a:r>
              <a:rPr lang="en-US" sz="1150" dirty="0">
                <a:solidFill>
                  <a:srgbClr val="DCE2EA"/>
                </a:solidFill>
                <a:latin typeface="Arial" pitchFamily="34" charset="0"/>
                <a:ea typeface="Arial" pitchFamily="34" charset="-122"/>
                <a:cs typeface="Arial" pitchFamily="34" charset="-120"/>
              </a:rPr>
              <a:t>every load is idempotent; failed runs are simply re-run</a:t>
            </a:r>
            <a:endParaRPr lang="en-US" sz="1150" dirty="0"/>
          </a:p>
        </p:txBody>
      </p:sp>
      <p:sp>
        <p:nvSpPr>
          <p:cNvPr id="10" name="Text 8"/>
          <p:cNvSpPr txBox="1"/>
          <p:nvPr/>
        </p:nvSpPr>
        <p:spPr>
          <a:xfrm>
            <a:off x="9052560" y="1691640"/>
            <a:ext cx="2651760" cy="868680"/>
          </a:xfrm>
          <a:prstGeom prst="rect">
            <a:avLst/>
          </a:prstGeom>
          <a:noFill/>
          <a:ln/>
        </p:spPr>
        <p:txBody>
          <a:bodyPr wrap="square" lIns="0" tIns="0" rIns="0" bIns="0" rtlCol="0" anchor="ctr"/>
          <a:lstStyle/>
          <a:p>
            <a:pPr indent="0" marL="0">
              <a:buNone/>
            </a:pPr>
            <a:r>
              <a:rPr lang="en-US" sz="4000" b="1" dirty="0">
                <a:solidFill>
                  <a:srgbClr val="48EFCF"/>
                </a:solidFill>
                <a:latin typeface="Arial" pitchFamily="34" charset="0"/>
                <a:ea typeface="Arial" pitchFamily="34" charset="-122"/>
                <a:cs typeface="Arial" pitchFamily="34" charset="-120"/>
              </a:rPr>
              <a:t>~36 h</a:t>
            </a:r>
            <a:endParaRPr lang="en-US" sz="4000" dirty="0"/>
          </a:p>
        </p:txBody>
      </p:sp>
      <p:sp>
        <p:nvSpPr>
          <p:cNvPr id="11" name="Text 9"/>
          <p:cNvSpPr txBox="1"/>
          <p:nvPr/>
        </p:nvSpPr>
        <p:spPr>
          <a:xfrm>
            <a:off x="9052560" y="2560320"/>
            <a:ext cx="2514600" cy="1051560"/>
          </a:xfrm>
          <a:prstGeom prst="rect">
            <a:avLst/>
          </a:prstGeom>
          <a:noFill/>
          <a:ln/>
        </p:spPr>
        <p:txBody>
          <a:bodyPr wrap="square" lIns="0" tIns="0" rIns="0" bIns="0" rtlCol="0" anchor="ctr"/>
          <a:lstStyle/>
          <a:p>
            <a:pPr indent="0" marL="0">
              <a:buNone/>
            </a:pPr>
            <a:r>
              <a:rPr lang="en-US" sz="1150" dirty="0">
                <a:solidFill>
                  <a:srgbClr val="DCE2EA"/>
                </a:solidFill>
                <a:latin typeface="Arial" pitchFamily="34" charset="0"/>
                <a:ea typeface="Arial" pitchFamily="34" charset="-122"/>
                <a:cs typeface="Arial" pitchFamily="34" charset="-120"/>
              </a:rPr>
              <a:t>typical 12-month estate (~20B samples) at standard ingest capacity</a:t>
            </a:r>
            <a:endParaRPr lang="en-US" sz="1150" dirty="0"/>
          </a:p>
        </p:txBody>
      </p:sp>
      <p:sp>
        <p:nvSpPr>
          <p:cNvPr id="12" name="Shape 10"/>
          <p:cNvSpPr/>
          <p:nvPr/>
        </p:nvSpPr>
        <p:spPr>
          <a:xfrm>
            <a:off x="548640" y="3886200"/>
            <a:ext cx="11064240" cy="0"/>
          </a:xfrm>
          <a:prstGeom prst="line">
            <a:avLst/>
          </a:prstGeom>
          <a:noFill/>
          <a:ln w="12700">
            <a:solidFill>
              <a:srgbClr val="153385"/>
            </a:solidFill>
            <a:prstDash val="solid"/>
          </a:ln>
        </p:spPr>
      </p:sp>
      <p:sp>
        <p:nvSpPr>
          <p:cNvPr id="13" name="Text 11"/>
          <p:cNvSpPr txBox="1"/>
          <p:nvPr/>
        </p:nvSpPr>
        <p:spPr>
          <a:xfrm>
            <a:off x="548640" y="4114800"/>
            <a:ext cx="5486400" cy="36576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Suggested next steps</a:t>
            </a:r>
            <a:endParaRPr lang="en-US" sz="1600" dirty="0"/>
          </a:p>
        </p:txBody>
      </p:sp>
      <p:sp>
        <p:nvSpPr>
          <p:cNvPr id="14" name="Shape 12"/>
          <p:cNvSpPr/>
          <p:nvPr/>
        </p:nvSpPr>
        <p:spPr>
          <a:xfrm>
            <a:off x="548640" y="4663440"/>
            <a:ext cx="384048" cy="384048"/>
          </a:xfrm>
          <a:prstGeom prst="ellipse">
            <a:avLst/>
          </a:prstGeom>
          <a:solidFill>
            <a:srgbClr val="FEC514"/>
          </a:solidFill>
          <a:ln/>
        </p:spPr>
      </p:sp>
      <p:sp>
        <p:nvSpPr>
          <p:cNvPr id="15" name="Text 13"/>
          <p:cNvSpPr txBox="1"/>
          <p:nvPr/>
        </p:nvSpPr>
        <p:spPr>
          <a:xfrm>
            <a:off x="548640" y="4663440"/>
            <a:ext cx="384048" cy="384048"/>
          </a:xfrm>
          <a:prstGeom prst="rect">
            <a:avLst/>
          </a:prstGeom>
          <a:noFill/>
          <a:ln/>
        </p:spPr>
        <p:txBody>
          <a:bodyPr wrap="square" lIns="0" tIns="0" rIns="0" bIns="0" rtlCol="0" anchor="ctr"/>
          <a:lstStyle/>
          <a:p>
            <a:pPr algn="ctr" indent="0" marL="0">
              <a:buNone/>
            </a:pPr>
            <a:r>
              <a:rPr lang="en-US" sz="1400" b="1" dirty="0">
                <a:solidFill>
                  <a:srgbClr val="101C3F"/>
                </a:solidFill>
                <a:latin typeface="Arial" pitchFamily="34" charset="0"/>
                <a:ea typeface="Arial" pitchFamily="34" charset="-122"/>
                <a:cs typeface="Arial" pitchFamily="34" charset="-120"/>
              </a:rPr>
              <a:t>1</a:t>
            </a:r>
            <a:endParaRPr lang="en-US" sz="1400" dirty="0"/>
          </a:p>
        </p:txBody>
      </p:sp>
      <p:sp>
        <p:nvSpPr>
          <p:cNvPr id="16" name="Text 14"/>
          <p:cNvSpPr txBox="1"/>
          <p:nvPr/>
        </p:nvSpPr>
        <p:spPr>
          <a:xfrm>
            <a:off x="1078992" y="4645152"/>
            <a:ext cx="3108960" cy="41148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Inventory the bucket</a:t>
            </a:r>
            <a:endParaRPr lang="en-US" sz="1400" dirty="0"/>
          </a:p>
        </p:txBody>
      </p:sp>
      <p:sp>
        <p:nvSpPr>
          <p:cNvPr id="17" name="Text 15"/>
          <p:cNvSpPr txBox="1"/>
          <p:nvPr/>
        </p:nvSpPr>
        <p:spPr>
          <a:xfrm>
            <a:off x="1078992" y="5074920"/>
            <a:ext cx="3108960" cy="1188720"/>
          </a:xfrm>
          <a:prstGeom prst="rect">
            <a:avLst/>
          </a:prstGeom>
          <a:noFill/>
          <a:ln/>
        </p:spPr>
        <p:txBody>
          <a:bodyPr wrap="square" lIns="0" tIns="0" rIns="0" bIns="0" rtlCol="0" anchor="ctr"/>
          <a:lstStyle/>
          <a:p>
            <a:pPr indent="0" marL="0">
              <a:buNone/>
            </a:pPr>
            <a:r>
              <a:rPr lang="en-US" sz="1050" dirty="0">
                <a:solidFill>
                  <a:srgbClr val="DCE2EA"/>
                </a:solidFill>
                <a:latin typeface="Arial" pitchFamily="34" charset="0"/>
                <a:ea typeface="Arial" pitchFamily="34" charset="-122"/>
                <a:cs typeface="Arial" pitchFamily="34" charset="-120"/>
              </a:rPr>
              <a:t>One read-only command sizes the whole estate: exact sample counts, duration, and storage forecast.</a:t>
            </a:r>
            <a:endParaRPr lang="en-US" sz="1050" dirty="0"/>
          </a:p>
        </p:txBody>
      </p:sp>
      <p:sp>
        <p:nvSpPr>
          <p:cNvPr id="18" name="Shape 16"/>
          <p:cNvSpPr/>
          <p:nvPr/>
        </p:nvSpPr>
        <p:spPr>
          <a:xfrm>
            <a:off x="4389120" y="4663440"/>
            <a:ext cx="384048" cy="384048"/>
          </a:xfrm>
          <a:prstGeom prst="ellipse">
            <a:avLst/>
          </a:prstGeom>
          <a:solidFill>
            <a:srgbClr val="FEC514"/>
          </a:solidFill>
          <a:ln/>
        </p:spPr>
      </p:sp>
      <p:sp>
        <p:nvSpPr>
          <p:cNvPr id="19" name="Text 17"/>
          <p:cNvSpPr txBox="1"/>
          <p:nvPr/>
        </p:nvSpPr>
        <p:spPr>
          <a:xfrm>
            <a:off x="4389120" y="4663440"/>
            <a:ext cx="384048" cy="384048"/>
          </a:xfrm>
          <a:prstGeom prst="rect">
            <a:avLst/>
          </a:prstGeom>
          <a:noFill/>
          <a:ln/>
        </p:spPr>
        <p:txBody>
          <a:bodyPr wrap="square" lIns="0" tIns="0" rIns="0" bIns="0" rtlCol="0" anchor="ctr"/>
          <a:lstStyle/>
          <a:p>
            <a:pPr algn="ctr" indent="0" marL="0">
              <a:buNone/>
            </a:pPr>
            <a:r>
              <a:rPr lang="en-US" sz="1400" b="1" dirty="0">
                <a:solidFill>
                  <a:srgbClr val="101C3F"/>
                </a:solidFill>
                <a:latin typeface="Arial" pitchFamily="34" charset="0"/>
                <a:ea typeface="Arial" pitchFamily="34" charset="-122"/>
                <a:cs typeface="Arial" pitchFamily="34" charset="-120"/>
              </a:rPr>
              <a:t>2</a:t>
            </a:r>
            <a:endParaRPr lang="en-US" sz="1400" dirty="0"/>
          </a:p>
        </p:txBody>
      </p:sp>
      <p:sp>
        <p:nvSpPr>
          <p:cNvPr id="20" name="Text 18"/>
          <p:cNvSpPr txBox="1"/>
          <p:nvPr/>
        </p:nvSpPr>
        <p:spPr>
          <a:xfrm>
            <a:off x="4919472" y="4645152"/>
            <a:ext cx="3108960" cy="41148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Pilot one month</a:t>
            </a:r>
            <a:endParaRPr lang="en-US" sz="1400" dirty="0"/>
          </a:p>
        </p:txBody>
      </p:sp>
      <p:sp>
        <p:nvSpPr>
          <p:cNvPr id="21" name="Text 19"/>
          <p:cNvSpPr txBox="1"/>
          <p:nvPr/>
        </p:nvSpPr>
        <p:spPr>
          <a:xfrm>
            <a:off x="4919472" y="5074920"/>
            <a:ext cx="3108960" cy="1188720"/>
          </a:xfrm>
          <a:prstGeom prst="rect">
            <a:avLst/>
          </a:prstGeom>
          <a:noFill/>
          <a:ln/>
        </p:spPr>
        <p:txBody>
          <a:bodyPr wrap="square" lIns="0" tIns="0" rIns="0" bIns="0" rtlCol="0" anchor="ctr"/>
          <a:lstStyle/>
          <a:p>
            <a:pPr indent="0" marL="0">
              <a:buNone/>
            </a:pPr>
            <a:r>
              <a:rPr lang="en-US" sz="1050" dirty="0">
                <a:solidFill>
                  <a:srgbClr val="DCE2EA"/>
                </a:solidFill>
                <a:latin typeface="Arial" pitchFamily="34" charset="0"/>
                <a:ea typeface="Arial" pitchFamily="34" charset="-122"/>
                <a:cs typeface="Arial" pitchFamily="34" charset="-120"/>
              </a:rPr>
              <a:t>Migrate the oldest month and run the parity gate against your Thanos — sign off on real data.</a:t>
            </a:r>
            <a:endParaRPr lang="en-US" sz="1050" dirty="0"/>
          </a:p>
        </p:txBody>
      </p:sp>
      <p:sp>
        <p:nvSpPr>
          <p:cNvPr id="22" name="Shape 20"/>
          <p:cNvSpPr/>
          <p:nvPr/>
        </p:nvSpPr>
        <p:spPr>
          <a:xfrm>
            <a:off x="8229600" y="4663440"/>
            <a:ext cx="384048" cy="384048"/>
          </a:xfrm>
          <a:prstGeom prst="ellipse">
            <a:avLst/>
          </a:prstGeom>
          <a:solidFill>
            <a:srgbClr val="FEC514"/>
          </a:solidFill>
          <a:ln/>
        </p:spPr>
      </p:sp>
      <p:sp>
        <p:nvSpPr>
          <p:cNvPr id="23" name="Text 21"/>
          <p:cNvSpPr txBox="1"/>
          <p:nvPr/>
        </p:nvSpPr>
        <p:spPr>
          <a:xfrm>
            <a:off x="8229600" y="4663440"/>
            <a:ext cx="384048" cy="384048"/>
          </a:xfrm>
          <a:prstGeom prst="rect">
            <a:avLst/>
          </a:prstGeom>
          <a:noFill/>
          <a:ln/>
        </p:spPr>
        <p:txBody>
          <a:bodyPr wrap="square" lIns="0" tIns="0" rIns="0" bIns="0" rtlCol="0" anchor="ctr"/>
          <a:lstStyle/>
          <a:p>
            <a:pPr algn="ctr" indent="0" marL="0">
              <a:buNone/>
            </a:pPr>
            <a:r>
              <a:rPr lang="en-US" sz="1400" b="1" dirty="0">
                <a:solidFill>
                  <a:srgbClr val="101C3F"/>
                </a:solidFill>
                <a:latin typeface="Arial" pitchFamily="34" charset="0"/>
                <a:ea typeface="Arial" pitchFamily="34" charset="-122"/>
                <a:cs typeface="Arial" pitchFamily="34" charset="-120"/>
              </a:rPr>
              <a:t>3</a:t>
            </a:r>
            <a:endParaRPr lang="en-US" sz="1400" dirty="0"/>
          </a:p>
        </p:txBody>
      </p:sp>
      <p:sp>
        <p:nvSpPr>
          <p:cNvPr id="24" name="Text 22"/>
          <p:cNvSpPr txBox="1"/>
          <p:nvPr/>
        </p:nvSpPr>
        <p:spPr>
          <a:xfrm>
            <a:off x="8759952" y="4645152"/>
            <a:ext cx="3108960" cy="41148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Full run, then retire</a:t>
            </a:r>
            <a:endParaRPr lang="en-US" sz="1400" dirty="0"/>
          </a:p>
        </p:txBody>
      </p:sp>
      <p:sp>
        <p:nvSpPr>
          <p:cNvPr id="25" name="Text 23"/>
          <p:cNvSpPr txBox="1"/>
          <p:nvPr/>
        </p:nvSpPr>
        <p:spPr>
          <a:xfrm>
            <a:off x="8759952" y="5074920"/>
            <a:ext cx="3108960" cy="1188720"/>
          </a:xfrm>
          <a:prstGeom prst="rect">
            <a:avLst/>
          </a:prstGeom>
          <a:noFill/>
          <a:ln/>
        </p:spPr>
        <p:txBody>
          <a:bodyPr wrap="square" lIns="0" tIns="0" rIns="0" bIns="0" rtlCol="0" anchor="ctr"/>
          <a:lstStyle/>
          <a:p>
            <a:pPr indent="0" marL="0">
              <a:buNone/>
            </a:pPr>
            <a:r>
              <a:rPr lang="en-US" sz="1050" dirty="0">
                <a:solidFill>
                  <a:srgbClr val="DCE2EA"/>
                </a:solidFill>
                <a:latin typeface="Arial" pitchFamily="34" charset="0"/>
                <a:ea typeface="Arial" pitchFamily="34" charset="-122"/>
                <a:cs typeface="Arial" pitchFamily="34" charset="-120"/>
              </a:rPr>
              <a:t>Backfill the rest, flip Grafana, and switch the Thanos infrastructure off.</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2026-09-08T13:49:40Z</dcterms:created>
  <dcterms:modified xsi:type="dcterms:W3CDTF">2026-09-08T13:49:40Z</dcterms:modified>
</cp:coreProperties>
</file>